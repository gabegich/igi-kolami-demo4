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4"/>
  </p:sldMasterIdLst>
  <p:sldIdLst>
    <p:sldId id="256" r:id="rId5"/>
    <p:sldId id="257" r:id="rId6"/>
    <p:sldId id="258" r:id="rId7"/>
    <p:sldId id="260" r:id="rId8"/>
    <p:sldId id="261" r:id="rId9"/>
    <p:sldId id="262" r:id="rId10"/>
    <p:sldId id="259" r:id="rId11"/>
    <p:sldId id="264" r:id="rId12"/>
    <p:sldId id="263" r:id="rId13"/>
    <p:sldId id="265" r:id="rId14"/>
    <p:sldId id="266" r:id="rId15"/>
    <p:sldId id="267" r:id="rId16"/>
    <p:sldId id="269" r:id="rId17"/>
    <p:sldId id="268" r:id="rId18"/>
    <p:sldId id="270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B2FACA-C7C8-4933-9CEE-6D63BEDA6144}" v="50" dt="2025-01-19T21:16:31.1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4660"/>
  </p:normalViewPr>
  <p:slideViewPr>
    <p:cSldViewPr snapToGrid="0">
      <p:cViewPr varScale="1">
        <p:scale>
          <a:sx n="75" d="100"/>
          <a:sy n="75" d="100"/>
        </p:scale>
        <p:origin x="73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4" Type="http://schemas.openxmlformats.org/officeDocument/2006/relationships/image" Target="../media/image1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AE1F78F-43CB-498C-8662-6D84F2E78A01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92DF1C1E-759F-4782-A8CE-5EEA785B9A8E}">
      <dgm:prSet/>
      <dgm:spPr/>
      <dgm:t>
        <a:bodyPr/>
        <a:lstStyle/>
        <a:p>
          <a:pPr>
            <a:defRPr cap="all"/>
          </a:pPr>
          <a:r>
            <a:rPr lang="nl-BE"/>
            <a:t>42 million monthly transacting users on the Grab platform</a:t>
          </a:r>
          <a:endParaRPr lang="en-US"/>
        </a:p>
      </dgm:t>
    </dgm:pt>
    <dgm:pt modelId="{72802B81-BECE-4CC8-B611-02126060BD48}" type="parTrans" cxnId="{741C458F-A9AD-469A-B80A-C852FACFFF91}">
      <dgm:prSet/>
      <dgm:spPr/>
      <dgm:t>
        <a:bodyPr/>
        <a:lstStyle/>
        <a:p>
          <a:endParaRPr lang="en-US"/>
        </a:p>
      </dgm:t>
    </dgm:pt>
    <dgm:pt modelId="{E34EB49A-0FE9-456B-B3A1-626B8A2FA6D2}" type="sibTrans" cxnId="{741C458F-A9AD-469A-B80A-C852FACFFF91}">
      <dgm:prSet/>
      <dgm:spPr/>
      <dgm:t>
        <a:bodyPr/>
        <a:lstStyle/>
        <a:p>
          <a:endParaRPr lang="en-US"/>
        </a:p>
      </dgm:t>
    </dgm:pt>
    <dgm:pt modelId="{8AAFF29C-444B-46E9-82F9-DA8E0183FE78}">
      <dgm:prSet/>
      <dgm:spPr/>
      <dgm:t>
        <a:bodyPr/>
        <a:lstStyle/>
        <a:p>
          <a:pPr>
            <a:defRPr cap="all"/>
          </a:pPr>
          <a:r>
            <a:rPr lang="nl-BE"/>
            <a:t>Source of income for 13 million drivers and merchants</a:t>
          </a:r>
          <a:endParaRPr lang="en-US"/>
        </a:p>
      </dgm:t>
    </dgm:pt>
    <dgm:pt modelId="{1A15FDF0-4205-4FD0-842F-352F49FB866A}" type="parTrans" cxnId="{176B0066-4441-4C0E-9EB9-53D1335D51E6}">
      <dgm:prSet/>
      <dgm:spPr/>
      <dgm:t>
        <a:bodyPr/>
        <a:lstStyle/>
        <a:p>
          <a:endParaRPr lang="en-US"/>
        </a:p>
      </dgm:t>
    </dgm:pt>
    <dgm:pt modelId="{3E669AD3-35A9-44DC-862D-3D93116C7C25}" type="sibTrans" cxnId="{176B0066-4441-4C0E-9EB9-53D1335D51E6}">
      <dgm:prSet/>
      <dgm:spPr/>
      <dgm:t>
        <a:bodyPr/>
        <a:lstStyle/>
        <a:p>
          <a:endParaRPr lang="en-US"/>
        </a:p>
      </dgm:t>
    </dgm:pt>
    <dgm:pt modelId="{D330A1E1-6951-4081-B6BE-0FB8E401B797}" type="pres">
      <dgm:prSet presAssocID="{9AE1F78F-43CB-498C-8662-6D84F2E78A01}" presName="root" presStyleCnt="0">
        <dgm:presLayoutVars>
          <dgm:dir/>
          <dgm:resizeHandles val="exact"/>
        </dgm:presLayoutVars>
      </dgm:prSet>
      <dgm:spPr/>
    </dgm:pt>
    <dgm:pt modelId="{16A10667-FADF-4FC8-A386-FBD66627466E}" type="pres">
      <dgm:prSet presAssocID="{92DF1C1E-759F-4782-A8CE-5EEA785B9A8E}" presName="compNode" presStyleCnt="0"/>
      <dgm:spPr/>
    </dgm:pt>
    <dgm:pt modelId="{AD7965CA-6FFA-45DD-8C16-1650FD65CF38}" type="pres">
      <dgm:prSet presAssocID="{92DF1C1E-759F-4782-A8CE-5EEA785B9A8E}" presName="iconBgRect" presStyleLbl="bgShp" presStyleIdx="0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9BBFB4A7-B313-45AB-9252-5CFB3606E696}" type="pres">
      <dgm:prSet presAssocID="{92DF1C1E-759F-4782-A8CE-5EEA785B9A8E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8D34F075-0FED-4CF1-BAEE-AA3A54AD3B08}" type="pres">
      <dgm:prSet presAssocID="{92DF1C1E-759F-4782-A8CE-5EEA785B9A8E}" presName="spaceRect" presStyleCnt="0"/>
      <dgm:spPr/>
    </dgm:pt>
    <dgm:pt modelId="{714790D3-5485-46C9-B3C3-36BBE1DA8C8B}" type="pres">
      <dgm:prSet presAssocID="{92DF1C1E-759F-4782-A8CE-5EEA785B9A8E}" presName="textRect" presStyleLbl="revTx" presStyleIdx="0" presStyleCnt="2">
        <dgm:presLayoutVars>
          <dgm:chMax val="1"/>
          <dgm:chPref val="1"/>
        </dgm:presLayoutVars>
      </dgm:prSet>
      <dgm:spPr/>
    </dgm:pt>
    <dgm:pt modelId="{0B609A57-CDD1-4AC5-9A7B-F10D191DAF89}" type="pres">
      <dgm:prSet presAssocID="{E34EB49A-0FE9-456B-B3A1-626B8A2FA6D2}" presName="sibTrans" presStyleCnt="0"/>
      <dgm:spPr/>
    </dgm:pt>
    <dgm:pt modelId="{CC545FEC-BBD8-4996-BD20-99FA3A8945CF}" type="pres">
      <dgm:prSet presAssocID="{8AAFF29C-444B-46E9-82F9-DA8E0183FE78}" presName="compNode" presStyleCnt="0"/>
      <dgm:spPr/>
    </dgm:pt>
    <dgm:pt modelId="{B328EE89-9871-4DC5-8F66-87E041D1D99D}" type="pres">
      <dgm:prSet presAssocID="{8AAFF29C-444B-46E9-82F9-DA8E0183FE78}" presName="iconBgRect" presStyleLbl="bgShp" presStyleIdx="1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A06A4618-6150-4239-A3A0-BFD313377BAD}" type="pres">
      <dgm:prSet presAssocID="{8AAFF29C-444B-46E9-82F9-DA8E0183FE7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28DE9399-564D-4075-A42E-E9CAB497D5A0}" type="pres">
      <dgm:prSet presAssocID="{8AAFF29C-444B-46E9-82F9-DA8E0183FE78}" presName="spaceRect" presStyleCnt="0"/>
      <dgm:spPr/>
    </dgm:pt>
    <dgm:pt modelId="{1684D45C-6292-4E59-B43B-5D880576331D}" type="pres">
      <dgm:prSet presAssocID="{8AAFF29C-444B-46E9-82F9-DA8E0183FE78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50097A1E-7B60-4045-9D90-B48C1A8A95CD}" type="presOf" srcId="{92DF1C1E-759F-4782-A8CE-5EEA785B9A8E}" destId="{714790D3-5485-46C9-B3C3-36BBE1DA8C8B}" srcOrd="0" destOrd="0" presId="urn:microsoft.com/office/officeart/2018/5/layout/IconLeafLabelList"/>
    <dgm:cxn modelId="{176B0066-4441-4C0E-9EB9-53D1335D51E6}" srcId="{9AE1F78F-43CB-498C-8662-6D84F2E78A01}" destId="{8AAFF29C-444B-46E9-82F9-DA8E0183FE78}" srcOrd="1" destOrd="0" parTransId="{1A15FDF0-4205-4FD0-842F-352F49FB866A}" sibTransId="{3E669AD3-35A9-44DC-862D-3D93116C7C25}"/>
    <dgm:cxn modelId="{5C7E2D55-AF29-45B2-8C2B-931C0400812F}" type="presOf" srcId="{9AE1F78F-43CB-498C-8662-6D84F2E78A01}" destId="{D330A1E1-6951-4081-B6BE-0FB8E401B797}" srcOrd="0" destOrd="0" presId="urn:microsoft.com/office/officeart/2018/5/layout/IconLeafLabelList"/>
    <dgm:cxn modelId="{741C458F-A9AD-469A-B80A-C852FACFFF91}" srcId="{9AE1F78F-43CB-498C-8662-6D84F2E78A01}" destId="{92DF1C1E-759F-4782-A8CE-5EEA785B9A8E}" srcOrd="0" destOrd="0" parTransId="{72802B81-BECE-4CC8-B611-02126060BD48}" sibTransId="{E34EB49A-0FE9-456B-B3A1-626B8A2FA6D2}"/>
    <dgm:cxn modelId="{7C2D36CE-36AC-4BA9-8524-FAC6179DC1D7}" type="presOf" srcId="{8AAFF29C-444B-46E9-82F9-DA8E0183FE78}" destId="{1684D45C-6292-4E59-B43B-5D880576331D}" srcOrd="0" destOrd="0" presId="urn:microsoft.com/office/officeart/2018/5/layout/IconLeafLabelList"/>
    <dgm:cxn modelId="{C2C0F628-AB52-4223-987F-78795168D4AD}" type="presParOf" srcId="{D330A1E1-6951-4081-B6BE-0FB8E401B797}" destId="{16A10667-FADF-4FC8-A386-FBD66627466E}" srcOrd="0" destOrd="0" presId="urn:microsoft.com/office/officeart/2018/5/layout/IconLeafLabelList"/>
    <dgm:cxn modelId="{5625E303-B506-4E98-B531-93A30C3B2A08}" type="presParOf" srcId="{16A10667-FADF-4FC8-A386-FBD66627466E}" destId="{AD7965CA-6FFA-45DD-8C16-1650FD65CF38}" srcOrd="0" destOrd="0" presId="urn:microsoft.com/office/officeart/2018/5/layout/IconLeafLabelList"/>
    <dgm:cxn modelId="{B778C564-8ABE-4913-9CFF-5D64B2A92BC8}" type="presParOf" srcId="{16A10667-FADF-4FC8-A386-FBD66627466E}" destId="{9BBFB4A7-B313-45AB-9252-5CFB3606E696}" srcOrd="1" destOrd="0" presId="urn:microsoft.com/office/officeart/2018/5/layout/IconLeafLabelList"/>
    <dgm:cxn modelId="{45F8F930-7819-4159-BE53-3AC7E88FFE49}" type="presParOf" srcId="{16A10667-FADF-4FC8-A386-FBD66627466E}" destId="{8D34F075-0FED-4CF1-BAEE-AA3A54AD3B08}" srcOrd="2" destOrd="0" presId="urn:microsoft.com/office/officeart/2018/5/layout/IconLeafLabelList"/>
    <dgm:cxn modelId="{0FBEC00B-2EEB-4D64-A435-A74FC19C550C}" type="presParOf" srcId="{16A10667-FADF-4FC8-A386-FBD66627466E}" destId="{714790D3-5485-46C9-B3C3-36BBE1DA8C8B}" srcOrd="3" destOrd="0" presId="urn:microsoft.com/office/officeart/2018/5/layout/IconLeafLabelList"/>
    <dgm:cxn modelId="{9BE521F3-95DE-4DE7-A4CE-354E3EF91D98}" type="presParOf" srcId="{D330A1E1-6951-4081-B6BE-0FB8E401B797}" destId="{0B609A57-CDD1-4AC5-9A7B-F10D191DAF89}" srcOrd="1" destOrd="0" presId="urn:microsoft.com/office/officeart/2018/5/layout/IconLeafLabelList"/>
    <dgm:cxn modelId="{1696A7F0-5ED7-4F9A-90DC-091EF9972857}" type="presParOf" srcId="{D330A1E1-6951-4081-B6BE-0FB8E401B797}" destId="{CC545FEC-BBD8-4996-BD20-99FA3A8945CF}" srcOrd="2" destOrd="0" presId="urn:microsoft.com/office/officeart/2018/5/layout/IconLeafLabelList"/>
    <dgm:cxn modelId="{77D0E9D0-3B66-4BA6-931E-33B7E1934E4F}" type="presParOf" srcId="{CC545FEC-BBD8-4996-BD20-99FA3A8945CF}" destId="{B328EE89-9871-4DC5-8F66-87E041D1D99D}" srcOrd="0" destOrd="0" presId="urn:microsoft.com/office/officeart/2018/5/layout/IconLeafLabelList"/>
    <dgm:cxn modelId="{3679B57B-FA45-4F13-96D8-A11B35AD093E}" type="presParOf" srcId="{CC545FEC-BBD8-4996-BD20-99FA3A8945CF}" destId="{A06A4618-6150-4239-A3A0-BFD313377BAD}" srcOrd="1" destOrd="0" presId="urn:microsoft.com/office/officeart/2018/5/layout/IconLeafLabelList"/>
    <dgm:cxn modelId="{ECF51EFC-1725-4D70-8C09-4DEBF360523B}" type="presParOf" srcId="{CC545FEC-BBD8-4996-BD20-99FA3A8945CF}" destId="{28DE9399-564D-4075-A42E-E9CAB497D5A0}" srcOrd="2" destOrd="0" presId="urn:microsoft.com/office/officeart/2018/5/layout/IconLeafLabelList"/>
    <dgm:cxn modelId="{823A5C18-3E8B-487B-A972-C5B1544B6B4E}" type="presParOf" srcId="{CC545FEC-BBD8-4996-BD20-99FA3A8945CF}" destId="{1684D45C-6292-4E59-B43B-5D880576331D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60C6485-9E85-470B-97DA-B49F9E40B08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CF9E5CC-A7E4-4EF7-BFA3-EEF86B3C52F2}">
      <dgm:prSet/>
      <dgm:spPr/>
      <dgm:t>
        <a:bodyPr/>
        <a:lstStyle/>
        <a:p>
          <a:r>
            <a:rPr lang="nl-BE"/>
            <a:t>Took over Uber’s regional operations in 2018, granting the company a 27,5% stake and a board seat for its CEO</a:t>
          </a:r>
          <a:endParaRPr lang="en-US"/>
        </a:p>
      </dgm:t>
    </dgm:pt>
    <dgm:pt modelId="{6DD42483-48E8-4EFC-90EF-8AFEEDB1A0BE}" type="parTrans" cxnId="{B5C4B0E9-B288-42F1-BEF9-3C4E15535788}">
      <dgm:prSet/>
      <dgm:spPr/>
      <dgm:t>
        <a:bodyPr/>
        <a:lstStyle/>
        <a:p>
          <a:endParaRPr lang="en-US"/>
        </a:p>
      </dgm:t>
    </dgm:pt>
    <dgm:pt modelId="{B3527F9C-A36F-4A67-A4EC-FE547CDAD788}" type="sibTrans" cxnId="{B5C4B0E9-B288-42F1-BEF9-3C4E15535788}">
      <dgm:prSet/>
      <dgm:spPr/>
      <dgm:t>
        <a:bodyPr/>
        <a:lstStyle/>
        <a:p>
          <a:endParaRPr lang="en-US"/>
        </a:p>
      </dgm:t>
    </dgm:pt>
    <dgm:pt modelId="{0E23E05D-F1F3-4860-8308-ABEF2EE3E7BA}">
      <dgm:prSet/>
      <dgm:spPr/>
      <dgm:t>
        <a:bodyPr/>
        <a:lstStyle/>
        <a:p>
          <a:r>
            <a:rPr lang="nl-BE" dirty="0"/>
            <a:t>Market </a:t>
          </a:r>
          <a:r>
            <a:rPr lang="nl-BE" dirty="0" err="1"/>
            <a:t>leadership</a:t>
          </a:r>
          <a:r>
            <a:rPr lang="nl-BE" dirty="0"/>
            <a:t>: “</a:t>
          </a:r>
          <a:r>
            <a:rPr lang="en-GB" dirty="0"/>
            <a:t>We are approximately 4x larger than our next biggest competitor in the region, leveraging our scale to improve cost efficiency.”</a:t>
          </a:r>
          <a:endParaRPr lang="en-US" dirty="0"/>
        </a:p>
      </dgm:t>
    </dgm:pt>
    <dgm:pt modelId="{ED8A0529-F3DF-4C46-AE9F-D716587527C5}" type="parTrans" cxnId="{37274D08-8A9E-4C42-84F8-18F28382D3B9}">
      <dgm:prSet/>
      <dgm:spPr/>
      <dgm:t>
        <a:bodyPr/>
        <a:lstStyle/>
        <a:p>
          <a:endParaRPr lang="en-US"/>
        </a:p>
      </dgm:t>
    </dgm:pt>
    <dgm:pt modelId="{7564B69A-EE7C-4740-AF01-074E901DA8B9}" type="sibTrans" cxnId="{37274D08-8A9E-4C42-84F8-18F28382D3B9}">
      <dgm:prSet/>
      <dgm:spPr/>
      <dgm:t>
        <a:bodyPr/>
        <a:lstStyle/>
        <a:p>
          <a:endParaRPr lang="en-US"/>
        </a:p>
      </dgm:t>
    </dgm:pt>
    <dgm:pt modelId="{CC8711BA-E3E1-4D35-8788-A0A474F949BA}" type="pres">
      <dgm:prSet presAssocID="{E60C6485-9E85-470B-97DA-B49F9E40B08F}" presName="root" presStyleCnt="0">
        <dgm:presLayoutVars>
          <dgm:dir/>
          <dgm:resizeHandles val="exact"/>
        </dgm:presLayoutVars>
      </dgm:prSet>
      <dgm:spPr/>
    </dgm:pt>
    <dgm:pt modelId="{B9746D28-1894-4D6C-85DF-3547A9DCE27F}" type="pres">
      <dgm:prSet presAssocID="{FCF9E5CC-A7E4-4EF7-BFA3-EEF86B3C52F2}" presName="compNode" presStyleCnt="0"/>
      <dgm:spPr/>
    </dgm:pt>
    <dgm:pt modelId="{5E018D7D-D660-4805-8FEF-ABF3ADA97DEF}" type="pres">
      <dgm:prSet presAssocID="{FCF9E5CC-A7E4-4EF7-BFA3-EEF86B3C52F2}" presName="bgRect" presStyleLbl="bgShp" presStyleIdx="0" presStyleCnt="2"/>
      <dgm:spPr/>
    </dgm:pt>
    <dgm:pt modelId="{EB48234B-9E44-44ED-9A61-641DC22D51EA}" type="pres">
      <dgm:prSet presAssocID="{FCF9E5CC-A7E4-4EF7-BFA3-EEF86B3C52F2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ooter"/>
        </a:ext>
      </dgm:extLst>
    </dgm:pt>
    <dgm:pt modelId="{FFA8BA84-D7CB-42B4-946F-59D7DA5F5EC9}" type="pres">
      <dgm:prSet presAssocID="{FCF9E5CC-A7E4-4EF7-BFA3-EEF86B3C52F2}" presName="spaceRect" presStyleCnt="0"/>
      <dgm:spPr/>
    </dgm:pt>
    <dgm:pt modelId="{FC8AAABB-567F-4896-9615-66FA8D748B8C}" type="pres">
      <dgm:prSet presAssocID="{FCF9E5CC-A7E4-4EF7-BFA3-EEF86B3C52F2}" presName="parTx" presStyleLbl="revTx" presStyleIdx="0" presStyleCnt="2">
        <dgm:presLayoutVars>
          <dgm:chMax val="0"/>
          <dgm:chPref val="0"/>
        </dgm:presLayoutVars>
      </dgm:prSet>
      <dgm:spPr/>
    </dgm:pt>
    <dgm:pt modelId="{78D4E4D5-613C-43D5-AC1C-D000EAE5059C}" type="pres">
      <dgm:prSet presAssocID="{B3527F9C-A36F-4A67-A4EC-FE547CDAD788}" presName="sibTrans" presStyleCnt="0"/>
      <dgm:spPr/>
    </dgm:pt>
    <dgm:pt modelId="{E4D9FA1F-FC08-4A33-8156-46D937BD09B7}" type="pres">
      <dgm:prSet presAssocID="{0E23E05D-F1F3-4860-8308-ABEF2EE3E7BA}" presName="compNode" presStyleCnt="0"/>
      <dgm:spPr/>
    </dgm:pt>
    <dgm:pt modelId="{C43DACB8-83B1-4228-BECA-1A10C7A26254}" type="pres">
      <dgm:prSet presAssocID="{0E23E05D-F1F3-4860-8308-ABEF2EE3E7BA}" presName="bgRect" presStyleLbl="bgShp" presStyleIdx="1" presStyleCnt="2"/>
      <dgm:spPr/>
    </dgm:pt>
    <dgm:pt modelId="{B585EC5C-C8AF-4391-B536-E8B1A6F19D2A}" type="pres">
      <dgm:prSet presAssocID="{0E23E05D-F1F3-4860-8308-ABEF2EE3E7BA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60E6F88A-79DF-4F81-9F30-D500DF8AD88F}" type="pres">
      <dgm:prSet presAssocID="{0E23E05D-F1F3-4860-8308-ABEF2EE3E7BA}" presName="spaceRect" presStyleCnt="0"/>
      <dgm:spPr/>
    </dgm:pt>
    <dgm:pt modelId="{C30B2088-88AC-4A6C-8600-12CA91BEE7C8}" type="pres">
      <dgm:prSet presAssocID="{0E23E05D-F1F3-4860-8308-ABEF2EE3E7BA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37274D08-8A9E-4C42-84F8-18F28382D3B9}" srcId="{E60C6485-9E85-470B-97DA-B49F9E40B08F}" destId="{0E23E05D-F1F3-4860-8308-ABEF2EE3E7BA}" srcOrd="1" destOrd="0" parTransId="{ED8A0529-F3DF-4C46-AE9F-D716587527C5}" sibTransId="{7564B69A-EE7C-4740-AF01-074E901DA8B9}"/>
    <dgm:cxn modelId="{E9E41E2F-389D-4E0A-96B2-17550219DA36}" type="presOf" srcId="{0E23E05D-F1F3-4860-8308-ABEF2EE3E7BA}" destId="{C30B2088-88AC-4A6C-8600-12CA91BEE7C8}" srcOrd="0" destOrd="0" presId="urn:microsoft.com/office/officeart/2018/2/layout/IconVerticalSolidList"/>
    <dgm:cxn modelId="{9BB95341-2EB1-4CE9-B0A2-99B68E914255}" type="presOf" srcId="{E60C6485-9E85-470B-97DA-B49F9E40B08F}" destId="{CC8711BA-E3E1-4D35-8788-A0A474F949BA}" srcOrd="0" destOrd="0" presId="urn:microsoft.com/office/officeart/2018/2/layout/IconVerticalSolidList"/>
    <dgm:cxn modelId="{A9531EC5-AB7C-4DB4-944B-84FA5116E977}" type="presOf" srcId="{FCF9E5CC-A7E4-4EF7-BFA3-EEF86B3C52F2}" destId="{FC8AAABB-567F-4896-9615-66FA8D748B8C}" srcOrd="0" destOrd="0" presId="urn:microsoft.com/office/officeart/2018/2/layout/IconVerticalSolidList"/>
    <dgm:cxn modelId="{B5C4B0E9-B288-42F1-BEF9-3C4E15535788}" srcId="{E60C6485-9E85-470B-97DA-B49F9E40B08F}" destId="{FCF9E5CC-A7E4-4EF7-BFA3-EEF86B3C52F2}" srcOrd="0" destOrd="0" parTransId="{6DD42483-48E8-4EFC-90EF-8AFEEDB1A0BE}" sibTransId="{B3527F9C-A36F-4A67-A4EC-FE547CDAD788}"/>
    <dgm:cxn modelId="{91F6CFE6-6738-4C76-8E19-705E9F1C02E4}" type="presParOf" srcId="{CC8711BA-E3E1-4D35-8788-A0A474F949BA}" destId="{B9746D28-1894-4D6C-85DF-3547A9DCE27F}" srcOrd="0" destOrd="0" presId="urn:microsoft.com/office/officeart/2018/2/layout/IconVerticalSolidList"/>
    <dgm:cxn modelId="{BEAB2AEB-AE33-4133-8D87-208B6B5B3041}" type="presParOf" srcId="{B9746D28-1894-4D6C-85DF-3547A9DCE27F}" destId="{5E018D7D-D660-4805-8FEF-ABF3ADA97DEF}" srcOrd="0" destOrd="0" presId="urn:microsoft.com/office/officeart/2018/2/layout/IconVerticalSolidList"/>
    <dgm:cxn modelId="{0DE37CF4-EAE3-47A5-B4EA-A9D75AAA258E}" type="presParOf" srcId="{B9746D28-1894-4D6C-85DF-3547A9DCE27F}" destId="{EB48234B-9E44-44ED-9A61-641DC22D51EA}" srcOrd="1" destOrd="0" presId="urn:microsoft.com/office/officeart/2018/2/layout/IconVerticalSolidList"/>
    <dgm:cxn modelId="{30E26FDB-C963-4E7E-AC10-50F417CC8726}" type="presParOf" srcId="{B9746D28-1894-4D6C-85DF-3547A9DCE27F}" destId="{FFA8BA84-D7CB-42B4-946F-59D7DA5F5EC9}" srcOrd="2" destOrd="0" presId="urn:microsoft.com/office/officeart/2018/2/layout/IconVerticalSolidList"/>
    <dgm:cxn modelId="{AE64A80A-11A8-4AE7-8E69-E5EF7179CCE9}" type="presParOf" srcId="{B9746D28-1894-4D6C-85DF-3547A9DCE27F}" destId="{FC8AAABB-567F-4896-9615-66FA8D748B8C}" srcOrd="3" destOrd="0" presId="urn:microsoft.com/office/officeart/2018/2/layout/IconVerticalSolidList"/>
    <dgm:cxn modelId="{4F96B0FC-E26C-4893-BBF3-942F7D0B5117}" type="presParOf" srcId="{CC8711BA-E3E1-4D35-8788-A0A474F949BA}" destId="{78D4E4D5-613C-43D5-AC1C-D000EAE5059C}" srcOrd="1" destOrd="0" presId="urn:microsoft.com/office/officeart/2018/2/layout/IconVerticalSolidList"/>
    <dgm:cxn modelId="{51954D06-AFE6-479F-8C4B-933F44134EA0}" type="presParOf" srcId="{CC8711BA-E3E1-4D35-8788-A0A474F949BA}" destId="{E4D9FA1F-FC08-4A33-8156-46D937BD09B7}" srcOrd="2" destOrd="0" presId="urn:microsoft.com/office/officeart/2018/2/layout/IconVerticalSolidList"/>
    <dgm:cxn modelId="{FE62E96D-9261-45F1-81DA-3BEA72315019}" type="presParOf" srcId="{E4D9FA1F-FC08-4A33-8156-46D937BD09B7}" destId="{C43DACB8-83B1-4228-BECA-1A10C7A26254}" srcOrd="0" destOrd="0" presId="urn:microsoft.com/office/officeart/2018/2/layout/IconVerticalSolidList"/>
    <dgm:cxn modelId="{644EA195-0290-4DF3-82AB-449099D7F999}" type="presParOf" srcId="{E4D9FA1F-FC08-4A33-8156-46D937BD09B7}" destId="{B585EC5C-C8AF-4391-B536-E8B1A6F19D2A}" srcOrd="1" destOrd="0" presId="urn:microsoft.com/office/officeart/2018/2/layout/IconVerticalSolidList"/>
    <dgm:cxn modelId="{CA96530F-91B4-4518-947E-F7B04E9CEB5A}" type="presParOf" srcId="{E4D9FA1F-FC08-4A33-8156-46D937BD09B7}" destId="{60E6F88A-79DF-4F81-9F30-D500DF8AD88F}" srcOrd="2" destOrd="0" presId="urn:microsoft.com/office/officeart/2018/2/layout/IconVerticalSolidList"/>
    <dgm:cxn modelId="{6F471D69-E397-4A96-B6D9-A8EB9440B6C7}" type="presParOf" srcId="{E4D9FA1F-FC08-4A33-8156-46D937BD09B7}" destId="{C30B2088-88AC-4A6C-8600-12CA91BEE7C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09152FE-03EA-4C81-8318-DC33D45D453B}" type="doc">
      <dgm:prSet loTypeId="urn:microsoft.com/office/officeart/2005/8/layout/defaul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1803B046-806D-4F90-BFED-C6D75C944935}">
      <dgm:prSet/>
      <dgm:spPr/>
      <dgm:t>
        <a:bodyPr/>
        <a:lstStyle/>
        <a:p>
          <a:pPr>
            <a:lnSpc>
              <a:spcPct val="100000"/>
            </a:lnSpc>
          </a:pPr>
          <a:r>
            <a:rPr lang="nl-BE" dirty="0" err="1"/>
            <a:t>Profitable</a:t>
          </a:r>
          <a:r>
            <a:rPr lang="nl-BE" dirty="0"/>
            <a:t> company set </a:t>
          </a:r>
          <a:r>
            <a:rPr lang="nl-BE" dirty="0" err="1"/>
            <a:t>to</a:t>
          </a:r>
          <a:r>
            <a:rPr lang="nl-BE" dirty="0"/>
            <a:t> </a:t>
          </a:r>
          <a:r>
            <a:rPr lang="nl-BE" dirty="0" err="1"/>
            <a:t>capitalize</a:t>
          </a:r>
          <a:r>
            <a:rPr lang="nl-BE" dirty="0"/>
            <a:t> on </a:t>
          </a:r>
          <a:r>
            <a:rPr lang="nl-BE" dirty="0" err="1"/>
            <a:t>Southeast</a:t>
          </a:r>
          <a:r>
            <a:rPr lang="nl-BE" dirty="0"/>
            <a:t> </a:t>
          </a:r>
          <a:r>
            <a:rPr lang="nl-BE" dirty="0" err="1"/>
            <a:t>Asia</a:t>
          </a:r>
          <a:r>
            <a:rPr lang="nl-BE" dirty="0"/>
            <a:t> </a:t>
          </a:r>
          <a:r>
            <a:rPr lang="nl-BE" dirty="0" err="1"/>
            <a:t>economy</a:t>
          </a:r>
          <a:r>
            <a:rPr lang="nl-BE" dirty="0"/>
            <a:t> </a:t>
          </a:r>
          <a:r>
            <a:rPr lang="nl-BE" dirty="0" err="1"/>
            <a:t>expanding</a:t>
          </a:r>
          <a:endParaRPr lang="en-US" dirty="0"/>
        </a:p>
      </dgm:t>
    </dgm:pt>
    <dgm:pt modelId="{8C61C4CF-93C9-4510-8DB9-666F6C79F81E}" type="parTrans" cxnId="{C5112A86-CB81-4A32-BD70-A03B881EB0DF}">
      <dgm:prSet/>
      <dgm:spPr/>
      <dgm:t>
        <a:bodyPr/>
        <a:lstStyle/>
        <a:p>
          <a:endParaRPr lang="en-US"/>
        </a:p>
      </dgm:t>
    </dgm:pt>
    <dgm:pt modelId="{FF54B323-5325-494F-80E9-8B0A8ABD1B5F}" type="sibTrans" cxnId="{C5112A86-CB81-4A32-BD70-A03B881EB0D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548DC43-A4A2-404A-9B55-8C9DE64FA335}">
      <dgm:prSet/>
      <dgm:spPr/>
      <dgm:t>
        <a:bodyPr/>
        <a:lstStyle/>
        <a:p>
          <a:pPr>
            <a:lnSpc>
              <a:spcPct val="100000"/>
            </a:lnSpc>
          </a:pPr>
          <a:r>
            <a:rPr lang="nl-BE"/>
            <a:t>Strong cash reserves</a:t>
          </a:r>
          <a:endParaRPr lang="en-US"/>
        </a:p>
      </dgm:t>
    </dgm:pt>
    <dgm:pt modelId="{FA5718B8-C1E5-44CC-A0CF-C33EE07B7A55}" type="parTrans" cxnId="{F093289C-9A04-451C-89CF-9FE600287D03}">
      <dgm:prSet/>
      <dgm:spPr/>
      <dgm:t>
        <a:bodyPr/>
        <a:lstStyle/>
        <a:p>
          <a:endParaRPr lang="en-US"/>
        </a:p>
      </dgm:t>
    </dgm:pt>
    <dgm:pt modelId="{AACDA414-C78B-44A9-913F-3DE93AE52015}" type="sibTrans" cxnId="{F093289C-9A04-451C-89CF-9FE600287D0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D65AE51-94CC-4532-8005-314897D10E00}">
      <dgm:prSet/>
      <dgm:spPr/>
      <dgm:t>
        <a:bodyPr/>
        <a:lstStyle/>
        <a:p>
          <a:pPr>
            <a:lnSpc>
              <a:spcPct val="100000"/>
            </a:lnSpc>
          </a:pPr>
          <a:r>
            <a:rPr lang="nl-BE" dirty="0"/>
            <a:t>Modest </a:t>
          </a:r>
          <a:r>
            <a:rPr lang="nl-BE" dirty="0" err="1"/>
            <a:t>valuation</a:t>
          </a:r>
          <a:endParaRPr lang="en-US" dirty="0"/>
        </a:p>
      </dgm:t>
    </dgm:pt>
    <dgm:pt modelId="{83938C1F-DF56-4847-B6EA-5AE7B0279F11}" type="parTrans" cxnId="{30F61E1F-0A05-429D-B66B-11F7DA8B62E7}">
      <dgm:prSet/>
      <dgm:spPr/>
      <dgm:t>
        <a:bodyPr/>
        <a:lstStyle/>
        <a:p>
          <a:endParaRPr lang="en-US"/>
        </a:p>
      </dgm:t>
    </dgm:pt>
    <dgm:pt modelId="{4BF5D1E6-B647-4FB5-A009-12632396781B}" type="sibTrans" cxnId="{30F61E1F-0A05-429D-B66B-11F7DA8B62E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5C22730-47FB-4661-B161-C7D29FFEC91F}">
      <dgm:prSet/>
      <dgm:spPr/>
      <dgm:t>
        <a:bodyPr/>
        <a:lstStyle/>
        <a:p>
          <a:pPr>
            <a:lnSpc>
              <a:spcPct val="100000"/>
            </a:lnSpc>
          </a:pPr>
          <a:r>
            <a:rPr lang="nl-BE"/>
            <a:t>Founder-led, driven CEO with good track record of executing</a:t>
          </a:r>
          <a:endParaRPr lang="en-US"/>
        </a:p>
      </dgm:t>
    </dgm:pt>
    <dgm:pt modelId="{15B1E566-CA5C-43E6-A814-BAC1E354EB3E}" type="parTrans" cxnId="{7F6F8446-58CD-41E8-9459-4720B4F56A34}">
      <dgm:prSet/>
      <dgm:spPr/>
      <dgm:t>
        <a:bodyPr/>
        <a:lstStyle/>
        <a:p>
          <a:endParaRPr lang="en-US"/>
        </a:p>
      </dgm:t>
    </dgm:pt>
    <dgm:pt modelId="{532332DC-6B7D-44E6-A136-0903F01A24C8}" type="sibTrans" cxnId="{7F6F8446-58CD-41E8-9459-4720B4F56A3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CF6861F-C02B-4CED-9972-C0E7D7274EA2}">
      <dgm:prSet/>
      <dgm:spPr/>
      <dgm:t>
        <a:bodyPr/>
        <a:lstStyle/>
        <a:p>
          <a:pPr>
            <a:lnSpc>
              <a:spcPct val="100000"/>
            </a:lnSpc>
          </a:pPr>
          <a:r>
            <a:rPr lang="nl-BE" dirty="0"/>
            <a:t>No </a:t>
          </a:r>
          <a:r>
            <a:rPr lang="nl-BE" dirty="0" err="1"/>
            <a:t>immediate</a:t>
          </a:r>
          <a:r>
            <a:rPr lang="nl-BE" dirty="0"/>
            <a:t> </a:t>
          </a:r>
          <a:r>
            <a:rPr lang="nl-BE" dirty="0" err="1"/>
            <a:t>competition</a:t>
          </a:r>
          <a:endParaRPr lang="en-US" dirty="0"/>
        </a:p>
      </dgm:t>
    </dgm:pt>
    <dgm:pt modelId="{651D89B2-9762-4B9B-876F-D1265BC02C81}" type="parTrans" cxnId="{3E88AE3B-1013-46A2-A8CA-2095770BF6DC}">
      <dgm:prSet/>
      <dgm:spPr/>
      <dgm:t>
        <a:bodyPr/>
        <a:lstStyle/>
        <a:p>
          <a:endParaRPr lang="en-US"/>
        </a:p>
      </dgm:t>
    </dgm:pt>
    <dgm:pt modelId="{03CFCD06-3521-4CF0-A407-77285BA31EC5}" type="sibTrans" cxnId="{3E88AE3B-1013-46A2-A8CA-2095770BF6DC}">
      <dgm:prSet/>
      <dgm:spPr/>
      <dgm:t>
        <a:bodyPr/>
        <a:lstStyle/>
        <a:p>
          <a:endParaRPr lang="en-US"/>
        </a:p>
      </dgm:t>
    </dgm:pt>
    <dgm:pt modelId="{23473412-7058-4344-8A5D-94F4744BE1FC}" type="pres">
      <dgm:prSet presAssocID="{909152FE-03EA-4C81-8318-DC33D45D453B}" presName="diagram" presStyleCnt="0">
        <dgm:presLayoutVars>
          <dgm:dir/>
          <dgm:resizeHandles val="exact"/>
        </dgm:presLayoutVars>
      </dgm:prSet>
      <dgm:spPr/>
    </dgm:pt>
    <dgm:pt modelId="{D1F155BE-A0F5-4381-A6FD-F06DB250AC6F}" type="pres">
      <dgm:prSet presAssocID="{1803B046-806D-4F90-BFED-C6D75C944935}" presName="node" presStyleLbl="node1" presStyleIdx="0" presStyleCnt="5">
        <dgm:presLayoutVars>
          <dgm:bulletEnabled val="1"/>
        </dgm:presLayoutVars>
      </dgm:prSet>
      <dgm:spPr/>
    </dgm:pt>
    <dgm:pt modelId="{AF36ECE7-E32F-46DE-899E-571AC802893D}" type="pres">
      <dgm:prSet presAssocID="{FF54B323-5325-494F-80E9-8B0A8ABD1B5F}" presName="sibTrans" presStyleCnt="0"/>
      <dgm:spPr/>
    </dgm:pt>
    <dgm:pt modelId="{8E6B1CD2-C968-4979-8C2A-CEEABAD6E469}" type="pres">
      <dgm:prSet presAssocID="{2548DC43-A4A2-404A-9B55-8C9DE64FA335}" presName="node" presStyleLbl="node1" presStyleIdx="1" presStyleCnt="5">
        <dgm:presLayoutVars>
          <dgm:bulletEnabled val="1"/>
        </dgm:presLayoutVars>
      </dgm:prSet>
      <dgm:spPr/>
    </dgm:pt>
    <dgm:pt modelId="{69AE1812-8FC5-4F90-9A95-698F04035F27}" type="pres">
      <dgm:prSet presAssocID="{AACDA414-C78B-44A9-913F-3DE93AE52015}" presName="sibTrans" presStyleCnt="0"/>
      <dgm:spPr/>
    </dgm:pt>
    <dgm:pt modelId="{02E5DDBA-1709-4ED2-B432-296C055C5555}" type="pres">
      <dgm:prSet presAssocID="{3D65AE51-94CC-4532-8005-314897D10E00}" presName="node" presStyleLbl="node1" presStyleIdx="2" presStyleCnt="5">
        <dgm:presLayoutVars>
          <dgm:bulletEnabled val="1"/>
        </dgm:presLayoutVars>
      </dgm:prSet>
      <dgm:spPr/>
    </dgm:pt>
    <dgm:pt modelId="{B735A9F9-3E9D-4C8B-893E-34B789A09D92}" type="pres">
      <dgm:prSet presAssocID="{4BF5D1E6-B647-4FB5-A009-12632396781B}" presName="sibTrans" presStyleCnt="0"/>
      <dgm:spPr/>
    </dgm:pt>
    <dgm:pt modelId="{E791007C-D0AC-4F69-8035-CA2F7D487E66}" type="pres">
      <dgm:prSet presAssocID="{35C22730-47FB-4661-B161-C7D29FFEC91F}" presName="node" presStyleLbl="node1" presStyleIdx="3" presStyleCnt="5">
        <dgm:presLayoutVars>
          <dgm:bulletEnabled val="1"/>
        </dgm:presLayoutVars>
      </dgm:prSet>
      <dgm:spPr/>
    </dgm:pt>
    <dgm:pt modelId="{5D0BC3C6-AF76-44C1-A6D0-33FF0A68FA37}" type="pres">
      <dgm:prSet presAssocID="{532332DC-6B7D-44E6-A136-0903F01A24C8}" presName="sibTrans" presStyleCnt="0"/>
      <dgm:spPr/>
    </dgm:pt>
    <dgm:pt modelId="{C493F781-2DEB-4044-B8FD-69A684C2C360}" type="pres">
      <dgm:prSet presAssocID="{1CF6861F-C02B-4CED-9972-C0E7D7274EA2}" presName="node" presStyleLbl="node1" presStyleIdx="4" presStyleCnt="5">
        <dgm:presLayoutVars>
          <dgm:bulletEnabled val="1"/>
        </dgm:presLayoutVars>
      </dgm:prSet>
      <dgm:spPr/>
    </dgm:pt>
  </dgm:ptLst>
  <dgm:cxnLst>
    <dgm:cxn modelId="{8B72141B-457A-4B81-9C78-75BF03A94FC1}" type="presOf" srcId="{3D65AE51-94CC-4532-8005-314897D10E00}" destId="{02E5DDBA-1709-4ED2-B432-296C055C5555}" srcOrd="0" destOrd="0" presId="urn:microsoft.com/office/officeart/2005/8/layout/default"/>
    <dgm:cxn modelId="{30F61E1F-0A05-429D-B66B-11F7DA8B62E7}" srcId="{909152FE-03EA-4C81-8318-DC33D45D453B}" destId="{3D65AE51-94CC-4532-8005-314897D10E00}" srcOrd="2" destOrd="0" parTransId="{83938C1F-DF56-4847-B6EA-5AE7B0279F11}" sibTransId="{4BF5D1E6-B647-4FB5-A009-12632396781B}"/>
    <dgm:cxn modelId="{3E88AE3B-1013-46A2-A8CA-2095770BF6DC}" srcId="{909152FE-03EA-4C81-8318-DC33D45D453B}" destId="{1CF6861F-C02B-4CED-9972-C0E7D7274EA2}" srcOrd="4" destOrd="0" parTransId="{651D89B2-9762-4B9B-876F-D1265BC02C81}" sibTransId="{03CFCD06-3521-4CF0-A407-77285BA31EC5}"/>
    <dgm:cxn modelId="{7F6F8446-58CD-41E8-9459-4720B4F56A34}" srcId="{909152FE-03EA-4C81-8318-DC33D45D453B}" destId="{35C22730-47FB-4661-B161-C7D29FFEC91F}" srcOrd="3" destOrd="0" parTransId="{15B1E566-CA5C-43E6-A814-BAC1E354EB3E}" sibTransId="{532332DC-6B7D-44E6-A136-0903F01A24C8}"/>
    <dgm:cxn modelId="{6D45AC70-B8D4-4EEF-81EE-18B3776F5599}" type="presOf" srcId="{2548DC43-A4A2-404A-9B55-8C9DE64FA335}" destId="{8E6B1CD2-C968-4979-8C2A-CEEABAD6E469}" srcOrd="0" destOrd="0" presId="urn:microsoft.com/office/officeart/2005/8/layout/default"/>
    <dgm:cxn modelId="{D0DD517A-1DAE-4E37-91B2-0E20D1900742}" type="presOf" srcId="{35C22730-47FB-4661-B161-C7D29FFEC91F}" destId="{E791007C-D0AC-4F69-8035-CA2F7D487E66}" srcOrd="0" destOrd="0" presId="urn:microsoft.com/office/officeart/2005/8/layout/default"/>
    <dgm:cxn modelId="{B60C047C-D8EF-432B-B42F-BC642E34FFFB}" type="presOf" srcId="{909152FE-03EA-4C81-8318-DC33D45D453B}" destId="{23473412-7058-4344-8A5D-94F4744BE1FC}" srcOrd="0" destOrd="0" presId="urn:microsoft.com/office/officeart/2005/8/layout/default"/>
    <dgm:cxn modelId="{C5112A86-CB81-4A32-BD70-A03B881EB0DF}" srcId="{909152FE-03EA-4C81-8318-DC33D45D453B}" destId="{1803B046-806D-4F90-BFED-C6D75C944935}" srcOrd="0" destOrd="0" parTransId="{8C61C4CF-93C9-4510-8DB9-666F6C79F81E}" sibTransId="{FF54B323-5325-494F-80E9-8B0A8ABD1B5F}"/>
    <dgm:cxn modelId="{F093289C-9A04-451C-89CF-9FE600287D03}" srcId="{909152FE-03EA-4C81-8318-DC33D45D453B}" destId="{2548DC43-A4A2-404A-9B55-8C9DE64FA335}" srcOrd="1" destOrd="0" parTransId="{FA5718B8-C1E5-44CC-A0CF-C33EE07B7A55}" sibTransId="{AACDA414-C78B-44A9-913F-3DE93AE52015}"/>
    <dgm:cxn modelId="{80C6C3C7-8E24-420C-815C-99A32ECA3EB5}" type="presOf" srcId="{1CF6861F-C02B-4CED-9972-C0E7D7274EA2}" destId="{C493F781-2DEB-4044-B8FD-69A684C2C360}" srcOrd="0" destOrd="0" presId="urn:microsoft.com/office/officeart/2005/8/layout/default"/>
    <dgm:cxn modelId="{4EB968FE-A882-49C9-88FB-454A80242F7E}" type="presOf" srcId="{1803B046-806D-4F90-BFED-C6D75C944935}" destId="{D1F155BE-A0F5-4381-A6FD-F06DB250AC6F}" srcOrd="0" destOrd="0" presId="urn:microsoft.com/office/officeart/2005/8/layout/default"/>
    <dgm:cxn modelId="{7527B034-A999-4532-9B78-DE903B33B5E0}" type="presParOf" srcId="{23473412-7058-4344-8A5D-94F4744BE1FC}" destId="{D1F155BE-A0F5-4381-A6FD-F06DB250AC6F}" srcOrd="0" destOrd="0" presId="urn:microsoft.com/office/officeart/2005/8/layout/default"/>
    <dgm:cxn modelId="{67066D1E-6E3C-4E0C-B797-48DAF0DEC3AE}" type="presParOf" srcId="{23473412-7058-4344-8A5D-94F4744BE1FC}" destId="{AF36ECE7-E32F-46DE-899E-571AC802893D}" srcOrd="1" destOrd="0" presId="urn:microsoft.com/office/officeart/2005/8/layout/default"/>
    <dgm:cxn modelId="{BD2511EB-DF1B-4A57-857F-DDBC06BCEA23}" type="presParOf" srcId="{23473412-7058-4344-8A5D-94F4744BE1FC}" destId="{8E6B1CD2-C968-4979-8C2A-CEEABAD6E469}" srcOrd="2" destOrd="0" presId="urn:microsoft.com/office/officeart/2005/8/layout/default"/>
    <dgm:cxn modelId="{C66E0B8A-02F1-4AAF-A8B5-FDEBCF358F81}" type="presParOf" srcId="{23473412-7058-4344-8A5D-94F4744BE1FC}" destId="{69AE1812-8FC5-4F90-9A95-698F04035F27}" srcOrd="3" destOrd="0" presId="urn:microsoft.com/office/officeart/2005/8/layout/default"/>
    <dgm:cxn modelId="{9D9F68FD-1FB6-4DC4-88D6-0B0974B18C24}" type="presParOf" srcId="{23473412-7058-4344-8A5D-94F4744BE1FC}" destId="{02E5DDBA-1709-4ED2-B432-296C055C5555}" srcOrd="4" destOrd="0" presId="urn:microsoft.com/office/officeart/2005/8/layout/default"/>
    <dgm:cxn modelId="{4CFEA1FF-2257-4BAA-AFC4-82BB874DDC88}" type="presParOf" srcId="{23473412-7058-4344-8A5D-94F4744BE1FC}" destId="{B735A9F9-3E9D-4C8B-893E-34B789A09D92}" srcOrd="5" destOrd="0" presId="urn:microsoft.com/office/officeart/2005/8/layout/default"/>
    <dgm:cxn modelId="{6DB30FD6-1ABE-464A-BAA8-DF8210700686}" type="presParOf" srcId="{23473412-7058-4344-8A5D-94F4744BE1FC}" destId="{E791007C-D0AC-4F69-8035-CA2F7D487E66}" srcOrd="6" destOrd="0" presId="urn:microsoft.com/office/officeart/2005/8/layout/default"/>
    <dgm:cxn modelId="{2C196CB6-22D0-44E9-AB7D-B93815AE9084}" type="presParOf" srcId="{23473412-7058-4344-8A5D-94F4744BE1FC}" destId="{5D0BC3C6-AF76-44C1-A6D0-33FF0A68FA37}" srcOrd="7" destOrd="0" presId="urn:microsoft.com/office/officeart/2005/8/layout/default"/>
    <dgm:cxn modelId="{4E704688-FAB5-4335-BAC6-DC48EBF53FFE}" type="presParOf" srcId="{23473412-7058-4344-8A5D-94F4744BE1FC}" destId="{C493F781-2DEB-4044-B8FD-69A684C2C360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7965CA-6FFA-45DD-8C16-1650FD65CF38}">
      <dsp:nvSpPr>
        <dsp:cNvPr id="0" name=""/>
        <dsp:cNvSpPr/>
      </dsp:nvSpPr>
      <dsp:spPr>
        <a:xfrm>
          <a:off x="1596066" y="246740"/>
          <a:ext cx="2196000" cy="2196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BFB4A7-B313-45AB-9252-5CFB3606E696}">
      <dsp:nvSpPr>
        <dsp:cNvPr id="0" name=""/>
        <dsp:cNvSpPr/>
      </dsp:nvSpPr>
      <dsp:spPr>
        <a:xfrm>
          <a:off x="2064066" y="714741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4790D3-5485-46C9-B3C3-36BBE1DA8C8B}">
      <dsp:nvSpPr>
        <dsp:cNvPr id="0" name=""/>
        <dsp:cNvSpPr/>
      </dsp:nvSpPr>
      <dsp:spPr>
        <a:xfrm>
          <a:off x="894066" y="3126741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nl-BE" sz="1800" kern="1200"/>
            <a:t>42 million monthly transacting users on the Grab platform</a:t>
          </a:r>
          <a:endParaRPr lang="en-US" sz="1800" kern="1200"/>
        </a:p>
      </dsp:txBody>
      <dsp:txXfrm>
        <a:off x="894066" y="3126741"/>
        <a:ext cx="3600000" cy="720000"/>
      </dsp:txXfrm>
    </dsp:sp>
    <dsp:sp modelId="{B328EE89-9871-4DC5-8F66-87E041D1D99D}">
      <dsp:nvSpPr>
        <dsp:cNvPr id="0" name=""/>
        <dsp:cNvSpPr/>
      </dsp:nvSpPr>
      <dsp:spPr>
        <a:xfrm>
          <a:off x="5826066" y="246740"/>
          <a:ext cx="2196000" cy="2196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6A4618-6150-4239-A3A0-BFD313377BAD}">
      <dsp:nvSpPr>
        <dsp:cNvPr id="0" name=""/>
        <dsp:cNvSpPr/>
      </dsp:nvSpPr>
      <dsp:spPr>
        <a:xfrm>
          <a:off x="6294066" y="714741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84D45C-6292-4E59-B43B-5D880576331D}">
      <dsp:nvSpPr>
        <dsp:cNvPr id="0" name=""/>
        <dsp:cNvSpPr/>
      </dsp:nvSpPr>
      <dsp:spPr>
        <a:xfrm>
          <a:off x="5124066" y="3126741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nl-BE" sz="1800" kern="1200"/>
            <a:t>Source of income for 13 million drivers and merchants</a:t>
          </a:r>
          <a:endParaRPr lang="en-US" sz="1800" kern="1200"/>
        </a:p>
      </dsp:txBody>
      <dsp:txXfrm>
        <a:off x="5124066" y="3126741"/>
        <a:ext cx="36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018D7D-D660-4805-8FEF-ABF3ADA97DEF}">
      <dsp:nvSpPr>
        <dsp:cNvPr id="0" name=""/>
        <dsp:cNvSpPr/>
      </dsp:nvSpPr>
      <dsp:spPr>
        <a:xfrm>
          <a:off x="0" y="665190"/>
          <a:ext cx="9618133" cy="12280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48234B-9E44-44ED-9A61-641DC22D51EA}">
      <dsp:nvSpPr>
        <dsp:cNvPr id="0" name=""/>
        <dsp:cNvSpPr/>
      </dsp:nvSpPr>
      <dsp:spPr>
        <a:xfrm>
          <a:off x="371483" y="941500"/>
          <a:ext cx="675424" cy="67542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8AAABB-567F-4896-9615-66FA8D748B8C}">
      <dsp:nvSpPr>
        <dsp:cNvPr id="0" name=""/>
        <dsp:cNvSpPr/>
      </dsp:nvSpPr>
      <dsp:spPr>
        <a:xfrm>
          <a:off x="1418391" y="665190"/>
          <a:ext cx="8199741" cy="12280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968" tIns="129968" rIns="129968" bIns="129968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2400" kern="1200"/>
            <a:t>Took over Uber’s regional operations in 2018, granting the company a 27,5% stake and a board seat for its CEO</a:t>
          </a:r>
          <a:endParaRPr lang="en-US" sz="2400" kern="1200"/>
        </a:p>
      </dsp:txBody>
      <dsp:txXfrm>
        <a:off x="1418391" y="665190"/>
        <a:ext cx="8199741" cy="1228044"/>
      </dsp:txXfrm>
    </dsp:sp>
    <dsp:sp modelId="{C43DACB8-83B1-4228-BECA-1A10C7A26254}">
      <dsp:nvSpPr>
        <dsp:cNvPr id="0" name=""/>
        <dsp:cNvSpPr/>
      </dsp:nvSpPr>
      <dsp:spPr>
        <a:xfrm>
          <a:off x="0" y="2200246"/>
          <a:ext cx="9618133" cy="12280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85EC5C-C8AF-4391-B536-E8B1A6F19D2A}">
      <dsp:nvSpPr>
        <dsp:cNvPr id="0" name=""/>
        <dsp:cNvSpPr/>
      </dsp:nvSpPr>
      <dsp:spPr>
        <a:xfrm>
          <a:off x="371483" y="2476556"/>
          <a:ext cx="675424" cy="67542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0B2088-88AC-4A6C-8600-12CA91BEE7C8}">
      <dsp:nvSpPr>
        <dsp:cNvPr id="0" name=""/>
        <dsp:cNvSpPr/>
      </dsp:nvSpPr>
      <dsp:spPr>
        <a:xfrm>
          <a:off x="1418391" y="2200246"/>
          <a:ext cx="8199741" cy="12280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968" tIns="129968" rIns="129968" bIns="129968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2400" kern="1200" dirty="0"/>
            <a:t>Market </a:t>
          </a:r>
          <a:r>
            <a:rPr lang="nl-BE" sz="2400" kern="1200" dirty="0" err="1"/>
            <a:t>leadership</a:t>
          </a:r>
          <a:r>
            <a:rPr lang="nl-BE" sz="2400" kern="1200" dirty="0"/>
            <a:t>: “</a:t>
          </a:r>
          <a:r>
            <a:rPr lang="en-GB" sz="2400" kern="1200" dirty="0"/>
            <a:t>We are approximately 4x larger than our next biggest competitor in the region, leveraging our scale to improve cost efficiency.”</a:t>
          </a:r>
          <a:endParaRPr lang="en-US" sz="2400" kern="1200" dirty="0"/>
        </a:p>
      </dsp:txBody>
      <dsp:txXfrm>
        <a:off x="1418391" y="2200246"/>
        <a:ext cx="8199741" cy="122804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F155BE-A0F5-4381-A6FD-F06DB250AC6F}">
      <dsp:nvSpPr>
        <dsp:cNvPr id="0" name=""/>
        <dsp:cNvSpPr/>
      </dsp:nvSpPr>
      <dsp:spPr>
        <a:xfrm>
          <a:off x="0" y="93057"/>
          <a:ext cx="3005666" cy="1803399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2500" kern="1200" dirty="0" err="1"/>
            <a:t>Profitable</a:t>
          </a:r>
          <a:r>
            <a:rPr lang="nl-BE" sz="2500" kern="1200" dirty="0"/>
            <a:t> company set </a:t>
          </a:r>
          <a:r>
            <a:rPr lang="nl-BE" sz="2500" kern="1200" dirty="0" err="1"/>
            <a:t>to</a:t>
          </a:r>
          <a:r>
            <a:rPr lang="nl-BE" sz="2500" kern="1200" dirty="0"/>
            <a:t> </a:t>
          </a:r>
          <a:r>
            <a:rPr lang="nl-BE" sz="2500" kern="1200" dirty="0" err="1"/>
            <a:t>capitalize</a:t>
          </a:r>
          <a:r>
            <a:rPr lang="nl-BE" sz="2500" kern="1200" dirty="0"/>
            <a:t> on </a:t>
          </a:r>
          <a:r>
            <a:rPr lang="nl-BE" sz="2500" kern="1200" dirty="0" err="1"/>
            <a:t>Southeast</a:t>
          </a:r>
          <a:r>
            <a:rPr lang="nl-BE" sz="2500" kern="1200" dirty="0"/>
            <a:t> </a:t>
          </a:r>
          <a:r>
            <a:rPr lang="nl-BE" sz="2500" kern="1200" dirty="0" err="1"/>
            <a:t>Asia</a:t>
          </a:r>
          <a:r>
            <a:rPr lang="nl-BE" sz="2500" kern="1200" dirty="0"/>
            <a:t> </a:t>
          </a:r>
          <a:r>
            <a:rPr lang="nl-BE" sz="2500" kern="1200" dirty="0" err="1"/>
            <a:t>economy</a:t>
          </a:r>
          <a:r>
            <a:rPr lang="nl-BE" sz="2500" kern="1200" dirty="0"/>
            <a:t> </a:t>
          </a:r>
          <a:r>
            <a:rPr lang="nl-BE" sz="2500" kern="1200" dirty="0" err="1"/>
            <a:t>expanding</a:t>
          </a:r>
          <a:endParaRPr lang="en-US" sz="2500" kern="1200" dirty="0"/>
        </a:p>
      </dsp:txBody>
      <dsp:txXfrm>
        <a:off x="0" y="93057"/>
        <a:ext cx="3005666" cy="1803399"/>
      </dsp:txXfrm>
    </dsp:sp>
    <dsp:sp modelId="{8E6B1CD2-C968-4979-8C2A-CEEABAD6E469}">
      <dsp:nvSpPr>
        <dsp:cNvPr id="0" name=""/>
        <dsp:cNvSpPr/>
      </dsp:nvSpPr>
      <dsp:spPr>
        <a:xfrm>
          <a:off x="3306233" y="93057"/>
          <a:ext cx="3005666" cy="1803399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3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2500" kern="1200"/>
            <a:t>Strong cash reserves</a:t>
          </a:r>
          <a:endParaRPr lang="en-US" sz="2500" kern="1200"/>
        </a:p>
      </dsp:txBody>
      <dsp:txXfrm>
        <a:off x="3306233" y="93057"/>
        <a:ext cx="3005666" cy="1803399"/>
      </dsp:txXfrm>
    </dsp:sp>
    <dsp:sp modelId="{02E5DDBA-1709-4ED2-B432-296C055C5555}">
      <dsp:nvSpPr>
        <dsp:cNvPr id="0" name=""/>
        <dsp:cNvSpPr/>
      </dsp:nvSpPr>
      <dsp:spPr>
        <a:xfrm>
          <a:off x="6612466" y="93057"/>
          <a:ext cx="3005666" cy="1803399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4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2500" kern="1200" dirty="0"/>
            <a:t>Modest </a:t>
          </a:r>
          <a:r>
            <a:rPr lang="nl-BE" sz="2500" kern="1200" dirty="0" err="1"/>
            <a:t>valuation</a:t>
          </a:r>
          <a:endParaRPr lang="en-US" sz="2500" kern="1200" dirty="0"/>
        </a:p>
      </dsp:txBody>
      <dsp:txXfrm>
        <a:off x="6612466" y="93057"/>
        <a:ext cx="3005666" cy="1803399"/>
      </dsp:txXfrm>
    </dsp:sp>
    <dsp:sp modelId="{E791007C-D0AC-4F69-8035-CA2F7D487E66}">
      <dsp:nvSpPr>
        <dsp:cNvPr id="0" name=""/>
        <dsp:cNvSpPr/>
      </dsp:nvSpPr>
      <dsp:spPr>
        <a:xfrm>
          <a:off x="1653116" y="2197024"/>
          <a:ext cx="3005666" cy="1803399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5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2500" kern="1200"/>
            <a:t>Founder-led, driven CEO with good track record of executing</a:t>
          </a:r>
          <a:endParaRPr lang="en-US" sz="2500" kern="1200"/>
        </a:p>
      </dsp:txBody>
      <dsp:txXfrm>
        <a:off x="1653116" y="2197024"/>
        <a:ext cx="3005666" cy="1803399"/>
      </dsp:txXfrm>
    </dsp:sp>
    <dsp:sp modelId="{C493F781-2DEB-4044-B8FD-69A684C2C360}">
      <dsp:nvSpPr>
        <dsp:cNvPr id="0" name=""/>
        <dsp:cNvSpPr/>
      </dsp:nvSpPr>
      <dsp:spPr>
        <a:xfrm>
          <a:off x="4959349" y="2197024"/>
          <a:ext cx="3005666" cy="1803399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6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2500" kern="1200" dirty="0"/>
            <a:t>No </a:t>
          </a:r>
          <a:r>
            <a:rPr lang="nl-BE" sz="2500" kern="1200" dirty="0" err="1"/>
            <a:t>immediate</a:t>
          </a:r>
          <a:r>
            <a:rPr lang="nl-BE" sz="2500" kern="1200" dirty="0"/>
            <a:t> </a:t>
          </a:r>
          <a:r>
            <a:rPr lang="nl-BE" sz="2500" kern="1200" dirty="0" err="1"/>
            <a:t>competition</a:t>
          </a:r>
          <a:endParaRPr lang="en-US" sz="2500" kern="1200" dirty="0"/>
        </a:p>
      </dsp:txBody>
      <dsp:txXfrm>
        <a:off x="4959349" y="2197024"/>
        <a:ext cx="3005666" cy="18033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C5F08-B8F2-4CB2-B8D6-A53A2D6B55A5}" type="datetimeFigureOut">
              <a:rPr lang="en-BE" smtClean="0"/>
              <a:t>19/01/2025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17984-B318-4ED9-8E54-2205229EE33A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54705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C5F08-B8F2-4CB2-B8D6-A53A2D6B55A5}" type="datetimeFigureOut">
              <a:rPr lang="en-BE" smtClean="0"/>
              <a:t>19/01/2025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17984-B318-4ED9-8E54-2205229EE33A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567470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C5F08-B8F2-4CB2-B8D6-A53A2D6B55A5}" type="datetimeFigureOut">
              <a:rPr lang="en-BE" smtClean="0"/>
              <a:t>19/01/2025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17984-B318-4ED9-8E54-2205229EE33A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551288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C5F08-B8F2-4CB2-B8D6-A53A2D6B55A5}" type="datetimeFigureOut">
              <a:rPr lang="en-BE" smtClean="0"/>
              <a:t>19/01/2025</a:t>
            </a:fld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17984-B318-4ED9-8E54-2205229EE33A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53770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C5F08-B8F2-4CB2-B8D6-A53A2D6B55A5}" type="datetimeFigureOut">
              <a:rPr lang="en-BE" smtClean="0"/>
              <a:t>19/01/2025</a:t>
            </a:fld>
            <a:endParaRPr lang="en-B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17984-B318-4ED9-8E54-2205229EE33A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960432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C5F08-B8F2-4CB2-B8D6-A53A2D6B55A5}" type="datetimeFigureOut">
              <a:rPr lang="en-BE" smtClean="0"/>
              <a:t>19/01/2025</a:t>
            </a:fld>
            <a:endParaRPr lang="en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17984-B318-4ED9-8E54-2205229EE33A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37202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C5F08-B8F2-4CB2-B8D6-A53A2D6B55A5}" type="datetimeFigureOut">
              <a:rPr lang="en-BE" smtClean="0"/>
              <a:t>19/01/2025</a:t>
            </a:fld>
            <a:endParaRPr lang="en-B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17984-B318-4ED9-8E54-2205229EE33A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754628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C5F08-B8F2-4CB2-B8D6-A53A2D6B55A5}" type="datetimeFigureOut">
              <a:rPr lang="en-BE" smtClean="0"/>
              <a:t>19/01/2025</a:t>
            </a:fld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17984-B318-4ED9-8E54-2205229EE33A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753047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C5F08-B8F2-4CB2-B8D6-A53A2D6B55A5}" type="datetimeFigureOut">
              <a:rPr lang="en-BE" smtClean="0"/>
              <a:t>19/01/2025</a:t>
            </a:fld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17984-B318-4ED9-8E54-2205229EE33A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186829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C5F08-B8F2-4CB2-B8D6-A53A2D6B55A5}" type="datetimeFigureOut">
              <a:rPr lang="en-BE" smtClean="0"/>
              <a:t>19/01/2025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17984-B318-4ED9-8E54-2205229EE33A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819839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C5F08-B8F2-4CB2-B8D6-A53A2D6B55A5}" type="datetimeFigureOut">
              <a:rPr lang="en-BE" smtClean="0"/>
              <a:t>19/01/2025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17984-B318-4ED9-8E54-2205229EE33A}" type="slidenum">
              <a:rPr lang="en-BE" smtClean="0"/>
              <a:t>‹#›</a:t>
            </a:fld>
            <a:endParaRPr lang="en-BE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511434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C5F08-B8F2-4CB2-B8D6-A53A2D6B55A5}" type="datetimeFigureOut">
              <a:rPr lang="en-BE" smtClean="0"/>
              <a:t>19/01/2025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17984-B318-4ED9-8E54-2205229EE33A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313387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C5F08-B8F2-4CB2-B8D6-A53A2D6B55A5}" type="datetimeFigureOut">
              <a:rPr lang="en-BE" smtClean="0"/>
              <a:t>19/01/2025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17984-B318-4ED9-8E54-2205229EE33A}" type="slidenum">
              <a:rPr lang="en-BE" smtClean="0"/>
              <a:t>‹#›</a:t>
            </a:fld>
            <a:endParaRPr lang="en-BE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293426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C5F08-B8F2-4CB2-B8D6-A53A2D6B55A5}" type="datetimeFigureOut">
              <a:rPr lang="en-BE" smtClean="0"/>
              <a:t>19/01/2025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17984-B318-4ED9-8E54-2205229EE33A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4803566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C5F08-B8F2-4CB2-B8D6-A53A2D6B55A5}" type="datetimeFigureOut">
              <a:rPr lang="en-BE" smtClean="0"/>
              <a:t>19/01/2025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17984-B318-4ED9-8E54-2205229EE33A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413964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C5F08-B8F2-4CB2-B8D6-A53A2D6B55A5}" type="datetimeFigureOut">
              <a:rPr lang="en-BE" smtClean="0"/>
              <a:t>19/01/2025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17984-B318-4ED9-8E54-2205229EE33A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446331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1C5F08-B8F2-4CB2-B8D6-A53A2D6B55A5}" type="datetimeFigureOut">
              <a:rPr lang="en-BE" smtClean="0"/>
              <a:t>19/01/2025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9C17984-B318-4ED9-8E54-2205229EE33A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8240324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RAB Stock Price and Chart — NASDAQ:GRAB — TradingView">
            <a:extLst>
              <a:ext uri="{FF2B5EF4-FFF2-40B4-BE49-F238E27FC236}">
                <a16:creationId xmlns:a16="http://schemas.microsoft.com/office/drawing/2014/main" id="{C4BBBCB7-8C73-A409-4C7E-6AB4F4634C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375" b="21375"/>
          <a:stretch/>
        </p:blipFill>
        <p:spPr bwMode="auto">
          <a:xfrm>
            <a:off x="20" y="1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08B000A-824C-982A-601E-951B5F3849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84862"/>
            <a:ext cx="9144000" cy="1247782"/>
          </a:xfrm>
        </p:spPr>
        <p:txBody>
          <a:bodyPr>
            <a:normAutofit fontScale="90000"/>
          </a:bodyPr>
          <a:lstStyle/>
          <a:p>
            <a:pPr algn="ctr"/>
            <a:r>
              <a:rPr lang="nl-BE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Grab</a:t>
            </a:r>
            <a:r>
              <a:rPr lang="nl-B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Holdings </a:t>
            </a:r>
            <a:br>
              <a:rPr lang="nl-B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nl-BE" sz="18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Stock Presentation</a:t>
            </a:r>
            <a:br>
              <a:rPr lang="nl-BE" sz="18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BE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9BC78B-522E-93D1-6EF2-B441932398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2722" y="3026962"/>
            <a:ext cx="9144000" cy="1098395"/>
          </a:xfrm>
        </p:spPr>
        <p:txBody>
          <a:bodyPr>
            <a:normAutofit/>
          </a:bodyPr>
          <a:lstStyle/>
          <a:p>
            <a:pPr algn="ctr"/>
            <a:endParaRPr lang="nl-BE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BE" dirty="0">
              <a:solidFill>
                <a:srgbClr val="FF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E0047E-F8BD-5396-89D7-1378127C4D50}"/>
              </a:ext>
            </a:extLst>
          </p:cNvPr>
          <p:cNvSpPr txBox="1"/>
          <p:nvPr/>
        </p:nvSpPr>
        <p:spPr>
          <a:xfrm>
            <a:off x="372802" y="5875483"/>
            <a:ext cx="34809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3200" dirty="0" err="1">
                <a:latin typeface="Arial" panose="020B0604020202020204" pitchFamily="34" charset="0"/>
                <a:cs typeface="Arial" panose="020B0604020202020204" pitchFamily="34" charset="0"/>
              </a:rPr>
              <a:t>Ticker</a:t>
            </a:r>
            <a:r>
              <a:rPr lang="nl-BE" sz="3200" dirty="0">
                <a:latin typeface="Arial" panose="020B0604020202020204" pitchFamily="34" charset="0"/>
                <a:cs typeface="Arial" panose="020B0604020202020204" pitchFamily="34" charset="0"/>
              </a:rPr>
              <a:t>: GRAB</a:t>
            </a:r>
            <a:endParaRPr lang="en-BE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41254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150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BF5C7-EBB9-C5F3-6AE3-8C9B64819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BE" sz="4000" dirty="0" err="1"/>
              <a:t>What</a:t>
            </a:r>
            <a:r>
              <a:rPr lang="nl-BE" sz="4000" dirty="0"/>
              <a:t> do </a:t>
            </a:r>
            <a:r>
              <a:rPr lang="nl-BE" sz="4000" dirty="0" err="1"/>
              <a:t>they</a:t>
            </a:r>
            <a:r>
              <a:rPr lang="nl-BE" sz="4000" dirty="0"/>
              <a:t> do?  </a:t>
            </a:r>
            <a:endParaRPr lang="en-BE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698AC-9970-8779-FFAF-0EE6161F92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04989"/>
            <a:ext cx="8596668" cy="3880773"/>
          </a:xfrm>
        </p:spPr>
        <p:txBody>
          <a:bodyPr/>
          <a:lstStyle/>
          <a:p>
            <a:pPr marL="0" indent="0">
              <a:buNone/>
            </a:pPr>
            <a:r>
              <a:rPr lang="nl-BE" sz="2400" b="1" dirty="0"/>
              <a:t>Super app operating </a:t>
            </a:r>
            <a:r>
              <a:rPr lang="nl-BE" sz="2400" b="1" dirty="0" err="1"/>
              <a:t>it</a:t>
            </a:r>
            <a:r>
              <a:rPr lang="nl-BE" sz="2400" b="1" dirty="0"/>
              <a:t> </a:t>
            </a:r>
            <a:r>
              <a:rPr lang="nl-BE" sz="2400" b="1" dirty="0" err="1"/>
              <a:t>Southeast</a:t>
            </a:r>
            <a:r>
              <a:rPr lang="nl-BE" sz="2400" b="1" dirty="0"/>
              <a:t> </a:t>
            </a:r>
            <a:r>
              <a:rPr lang="nl-BE" sz="2400" b="1" dirty="0" err="1"/>
              <a:t>Asia</a:t>
            </a:r>
            <a:r>
              <a:rPr lang="nl-BE" sz="2400" b="1" dirty="0"/>
              <a:t> </a:t>
            </a:r>
            <a:r>
              <a:rPr lang="nl-BE" sz="2400" b="1" dirty="0" err="1"/>
              <a:t>offering</a:t>
            </a:r>
            <a:r>
              <a:rPr lang="nl-BE" sz="2400" b="1" dirty="0"/>
              <a:t> </a:t>
            </a:r>
            <a:r>
              <a:rPr lang="nl-BE" sz="2400" b="1" dirty="0" err="1"/>
              <a:t>various</a:t>
            </a:r>
            <a:r>
              <a:rPr lang="nl-BE" sz="2400" b="1" dirty="0"/>
              <a:t> services</a:t>
            </a:r>
          </a:p>
          <a:p>
            <a:r>
              <a:rPr lang="nl-BE" sz="2400" dirty="0" err="1"/>
              <a:t>Ride-hailing</a:t>
            </a:r>
            <a:r>
              <a:rPr lang="nl-BE" sz="2400" dirty="0"/>
              <a:t> services</a:t>
            </a:r>
          </a:p>
          <a:p>
            <a:r>
              <a:rPr lang="nl-BE" sz="2400" dirty="0"/>
              <a:t>Food delivery</a:t>
            </a:r>
          </a:p>
          <a:p>
            <a:r>
              <a:rPr lang="nl-BE" sz="2400" dirty="0"/>
              <a:t>Parcel </a:t>
            </a:r>
            <a:r>
              <a:rPr lang="nl-BE" sz="2400" dirty="0" err="1"/>
              <a:t>and</a:t>
            </a:r>
            <a:r>
              <a:rPr lang="nl-BE" sz="2400" dirty="0"/>
              <a:t> </a:t>
            </a:r>
            <a:r>
              <a:rPr lang="nl-BE" sz="2400" dirty="0" err="1"/>
              <a:t>grocery</a:t>
            </a:r>
            <a:r>
              <a:rPr lang="nl-BE" sz="2400" dirty="0"/>
              <a:t> delivery</a:t>
            </a:r>
          </a:p>
          <a:p>
            <a:r>
              <a:rPr lang="nl-BE" sz="2400" dirty="0"/>
              <a:t>Financial services</a:t>
            </a:r>
          </a:p>
          <a:p>
            <a:r>
              <a:rPr lang="nl-BE" sz="2400" dirty="0"/>
              <a:t>E-commerce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2957676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CBDF6-5694-554E-411F-56BAB1ED6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58106" cy="1320800"/>
          </a:xfrm>
        </p:spPr>
        <p:txBody>
          <a:bodyPr/>
          <a:lstStyle/>
          <a:p>
            <a:r>
              <a:rPr lang="nl-BE" dirty="0"/>
              <a:t>Operating in 8 </a:t>
            </a:r>
            <a:r>
              <a:rPr lang="nl-BE" dirty="0" err="1"/>
              <a:t>countries</a:t>
            </a:r>
            <a:r>
              <a:rPr lang="nl-BE" dirty="0"/>
              <a:t> in </a:t>
            </a:r>
            <a:r>
              <a:rPr lang="nl-BE" dirty="0" err="1"/>
              <a:t>Southeast</a:t>
            </a:r>
            <a:r>
              <a:rPr lang="nl-BE" dirty="0"/>
              <a:t> </a:t>
            </a:r>
            <a:r>
              <a:rPr lang="nl-BE" dirty="0" err="1"/>
              <a:t>Asia</a:t>
            </a:r>
            <a:endParaRPr lang="en-B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8C1D3B9-4686-21DC-7EAD-FFAC6C6D81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9567" y="2160588"/>
            <a:ext cx="7772903" cy="3881437"/>
          </a:xfrm>
        </p:spPr>
      </p:pic>
    </p:spTree>
    <p:extLst>
      <p:ext uri="{BB962C8B-B14F-4D97-AF65-F5344CB8AC3E}">
        <p14:creationId xmlns:p14="http://schemas.microsoft.com/office/powerpoint/2010/main" val="4286003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DDCC7-72B1-1B05-8A58-FFDAD651B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>
            <a:normAutofit fontScale="90000"/>
          </a:bodyPr>
          <a:lstStyle/>
          <a:p>
            <a:r>
              <a:rPr lang="nl-BE" sz="4400" dirty="0" err="1">
                <a:latin typeface="Arial" panose="020B0604020202020204" pitchFamily="34" charset="0"/>
                <a:cs typeface="Arial" panose="020B0604020202020204" pitchFamily="34" charset="0"/>
              </a:rPr>
              <a:t>Region</a:t>
            </a:r>
            <a:r>
              <a:rPr lang="nl-BE" sz="4400" dirty="0">
                <a:latin typeface="Arial" panose="020B0604020202020204" pitchFamily="34" charset="0"/>
                <a:cs typeface="Arial" panose="020B0604020202020204" pitchFamily="34" charset="0"/>
              </a:rPr>
              <a:t> analysis</a:t>
            </a:r>
            <a:br>
              <a:rPr lang="nl-BE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nl-BE" sz="2000" dirty="0">
                <a:latin typeface="Arial" panose="020B0604020202020204" pitchFamily="34" charset="0"/>
                <a:cs typeface="Arial" panose="020B0604020202020204" pitchFamily="34" charset="0"/>
              </a:rPr>
              <a:t>Anthony Tan, CEO </a:t>
            </a:r>
            <a:r>
              <a:rPr lang="nl-BE" sz="2000" dirty="0" err="1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nl-BE" sz="2000" dirty="0">
                <a:latin typeface="Arial" panose="020B0604020202020204" pitchFamily="34" charset="0"/>
                <a:cs typeface="Arial" panose="020B0604020202020204" pitchFamily="34" charset="0"/>
              </a:rPr>
              <a:t> Co </a:t>
            </a:r>
            <a:r>
              <a:rPr lang="nl-BE" sz="2000" dirty="0" err="1">
                <a:latin typeface="Arial" panose="020B0604020202020204" pitchFamily="34" charset="0"/>
                <a:cs typeface="Arial" panose="020B0604020202020204" pitchFamily="34" charset="0"/>
              </a:rPr>
              <a:t>founder</a:t>
            </a:r>
            <a:r>
              <a:rPr lang="nl-BE" sz="2000" dirty="0">
                <a:latin typeface="Arial" panose="020B0604020202020204" pitchFamily="34" charset="0"/>
                <a:cs typeface="Arial" panose="020B0604020202020204" pitchFamily="34" charset="0"/>
              </a:rPr>
              <a:t>: “We </a:t>
            </a:r>
            <a:r>
              <a:rPr lang="nl-BE" sz="2000" dirty="0" err="1">
                <a:latin typeface="Arial" panose="020B0604020202020204" pitchFamily="34" charset="0"/>
                <a:cs typeface="Arial" panose="020B0604020202020204" pitchFamily="34" charset="0"/>
              </a:rPr>
              <a:t>remain</a:t>
            </a:r>
            <a:r>
              <a:rPr lang="nl-BE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2000" dirty="0" err="1">
                <a:latin typeface="Arial" panose="020B0604020202020204" pitchFamily="34" charset="0"/>
                <a:cs typeface="Arial" panose="020B0604020202020204" pitchFamily="34" charset="0"/>
              </a:rPr>
              <a:t>bullish</a:t>
            </a:r>
            <a:r>
              <a:rPr lang="nl-BE" sz="2000" dirty="0">
                <a:latin typeface="Arial" panose="020B0604020202020204" pitchFamily="34" charset="0"/>
                <a:cs typeface="Arial" panose="020B0604020202020204" pitchFamily="34" charset="0"/>
              </a:rPr>
              <a:t> on </a:t>
            </a:r>
            <a:r>
              <a:rPr lang="nl-BE" sz="2000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nl-BE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2000" dirty="0" err="1">
                <a:latin typeface="Arial" panose="020B0604020202020204" pitchFamily="34" charset="0"/>
                <a:cs typeface="Arial" panose="020B0604020202020204" pitchFamily="34" charset="0"/>
              </a:rPr>
              <a:t>growth</a:t>
            </a:r>
            <a:r>
              <a:rPr lang="nl-BE" sz="2000" dirty="0">
                <a:latin typeface="Arial" panose="020B0604020202020204" pitchFamily="34" charset="0"/>
                <a:cs typeface="Arial" panose="020B0604020202020204" pitchFamily="34" charset="0"/>
              </a:rPr>
              <a:t> outlook of </a:t>
            </a:r>
            <a:r>
              <a:rPr lang="nl-BE" sz="2000" dirty="0" err="1">
                <a:latin typeface="Arial" panose="020B0604020202020204" pitchFamily="34" charset="0"/>
                <a:cs typeface="Arial" panose="020B0604020202020204" pitchFamily="34" charset="0"/>
              </a:rPr>
              <a:t>Southeast</a:t>
            </a:r>
            <a:r>
              <a:rPr lang="nl-BE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2000" dirty="0" err="1">
                <a:latin typeface="Arial" panose="020B0604020202020204" pitchFamily="34" charset="0"/>
                <a:cs typeface="Arial" panose="020B0604020202020204" pitchFamily="34" charset="0"/>
              </a:rPr>
              <a:t>Asia</a:t>
            </a:r>
            <a:r>
              <a:rPr lang="nl-BE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nl-BE" sz="2000" dirty="0" err="1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nl-BE" sz="2000" dirty="0">
                <a:latin typeface="Arial" panose="020B0604020202020204" pitchFamily="34" charset="0"/>
                <a:cs typeface="Arial" panose="020B0604020202020204" pitchFamily="34" charset="0"/>
              </a:rPr>
              <a:t> are </a:t>
            </a:r>
            <a:r>
              <a:rPr lang="nl-BE" sz="2000" dirty="0" err="1">
                <a:latin typeface="Arial" panose="020B0604020202020204" pitchFamily="34" charset="0"/>
                <a:cs typeface="Arial" panose="020B0604020202020204" pitchFamily="34" charset="0"/>
              </a:rPr>
              <a:t>firing</a:t>
            </a:r>
            <a:r>
              <a:rPr lang="nl-BE" sz="2000" dirty="0">
                <a:latin typeface="Arial" panose="020B0604020202020204" pitchFamily="34" charset="0"/>
                <a:cs typeface="Arial" panose="020B0604020202020204" pitchFamily="34" charset="0"/>
              </a:rPr>
              <a:t> on </a:t>
            </a:r>
            <a:r>
              <a:rPr lang="nl-BE" sz="2000" dirty="0" err="1">
                <a:latin typeface="Arial" panose="020B0604020202020204" pitchFamily="34" charset="0"/>
                <a:cs typeface="Arial" panose="020B0604020202020204" pitchFamily="34" charset="0"/>
              </a:rPr>
              <a:t>all</a:t>
            </a:r>
            <a:r>
              <a:rPr lang="nl-BE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2000" dirty="0" err="1">
                <a:latin typeface="Arial" panose="020B0604020202020204" pitchFamily="34" charset="0"/>
                <a:cs typeface="Arial" panose="020B0604020202020204" pitchFamily="34" charset="0"/>
              </a:rPr>
              <a:t>cylinders</a:t>
            </a:r>
            <a:r>
              <a:rPr lang="nl-BE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2000" dirty="0" err="1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nl-BE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2000" dirty="0" err="1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nl-BE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2000" dirty="0" err="1">
                <a:latin typeface="Arial" panose="020B0604020202020204" pitchFamily="34" charset="0"/>
                <a:cs typeface="Arial" panose="020B0604020202020204" pitchFamily="34" charset="0"/>
              </a:rPr>
              <a:t>capter</a:t>
            </a:r>
            <a:r>
              <a:rPr lang="nl-BE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2000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nl-BE" sz="2000" dirty="0">
                <a:latin typeface="Arial" panose="020B0604020202020204" pitchFamily="34" charset="0"/>
                <a:cs typeface="Arial" panose="020B0604020202020204" pitchFamily="34" charset="0"/>
              </a:rPr>
              <a:t> strong </a:t>
            </a:r>
            <a:r>
              <a:rPr lang="nl-BE" sz="2000" dirty="0" err="1">
                <a:latin typeface="Arial" panose="020B0604020202020204" pitchFamily="34" charset="0"/>
                <a:cs typeface="Arial" panose="020B0604020202020204" pitchFamily="34" charset="0"/>
              </a:rPr>
              <a:t>consumer</a:t>
            </a:r>
            <a:r>
              <a:rPr lang="nl-BE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2000" dirty="0" err="1">
                <a:latin typeface="Arial" panose="020B0604020202020204" pitchFamily="34" charset="0"/>
                <a:cs typeface="Arial" panose="020B0604020202020204" pitchFamily="34" charset="0"/>
              </a:rPr>
              <a:t>demand</a:t>
            </a:r>
            <a:r>
              <a:rPr lang="nl-BE" sz="2000" dirty="0">
                <a:latin typeface="Arial" panose="020B0604020202020204" pitchFamily="34" charset="0"/>
                <a:cs typeface="Arial" panose="020B0604020202020204" pitchFamily="34" charset="0"/>
              </a:rPr>
              <a:t> trends.”</a:t>
            </a:r>
            <a:endParaRPr lang="en-B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600BD-C8BE-A9A9-C33A-019C3179C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367627"/>
            <a:ext cx="8596668" cy="3880773"/>
          </a:xfrm>
        </p:spPr>
        <p:txBody>
          <a:bodyPr>
            <a:normAutofit/>
          </a:bodyPr>
          <a:lstStyle/>
          <a:p>
            <a:r>
              <a:rPr lang="nl-BE" dirty="0">
                <a:latin typeface="Arial" panose="020B0604020202020204" pitchFamily="34" charset="0"/>
                <a:cs typeface="Arial" panose="020B0604020202020204" pitchFamily="34" charset="0"/>
              </a:rPr>
              <a:t>Large </a:t>
            </a:r>
            <a:r>
              <a:rPr lang="nl-BE" dirty="0" err="1">
                <a:latin typeface="Arial" panose="020B0604020202020204" pitchFamily="34" charset="0"/>
                <a:cs typeface="Arial" panose="020B0604020202020204" pitchFamily="34" charset="0"/>
              </a:rPr>
              <a:t>emerging</a:t>
            </a:r>
            <a:r>
              <a:rPr lang="nl-BE" dirty="0">
                <a:latin typeface="Arial" panose="020B0604020202020204" pitchFamily="34" charset="0"/>
                <a:cs typeface="Arial" panose="020B0604020202020204" pitchFamily="34" charset="0"/>
              </a:rPr>
              <a:t> market </a:t>
            </a:r>
            <a:r>
              <a:rPr lang="nl-BE" dirty="0" err="1"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nl-B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dirty="0" err="1">
                <a:latin typeface="Arial" panose="020B0604020202020204" pitchFamily="34" charset="0"/>
                <a:cs typeface="Arial" panose="020B0604020202020204" pitchFamily="34" charset="0"/>
              </a:rPr>
              <a:t>young</a:t>
            </a:r>
            <a:r>
              <a:rPr lang="nl-B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dirty="0" err="1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nl-B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dirty="0" err="1">
                <a:latin typeface="Arial" panose="020B0604020202020204" pitchFamily="34" charset="0"/>
                <a:cs typeface="Arial" panose="020B0604020202020204" pitchFamily="34" charset="0"/>
              </a:rPr>
              <a:t>growing</a:t>
            </a:r>
            <a:r>
              <a:rPr lang="nl-B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dirty="0" err="1">
                <a:latin typeface="Arial" panose="020B0604020202020204" pitchFamily="34" charset="0"/>
                <a:cs typeface="Arial" panose="020B0604020202020204" pitchFamily="34" charset="0"/>
              </a:rPr>
              <a:t>population</a:t>
            </a:r>
            <a:r>
              <a:rPr lang="nl-BE" dirty="0">
                <a:latin typeface="Arial" panose="020B0604020202020204" pitchFamily="34" charset="0"/>
                <a:cs typeface="Arial" panose="020B0604020202020204" pitchFamily="34" charset="0"/>
              </a:rPr>
              <a:t>→ 680 </a:t>
            </a:r>
            <a:r>
              <a:rPr lang="nl-BE" dirty="0" err="1">
                <a:latin typeface="Arial" panose="020B0604020202020204" pitchFamily="34" charset="0"/>
                <a:cs typeface="Arial" panose="020B0604020202020204" pitchFamily="34" charset="0"/>
              </a:rPr>
              <a:t>million</a:t>
            </a:r>
            <a:r>
              <a:rPr lang="nl-B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dirty="0" err="1">
                <a:latin typeface="Arial" panose="020B0604020202020204" pitchFamily="34" charset="0"/>
                <a:cs typeface="Arial" panose="020B0604020202020204" pitchFamily="34" charset="0"/>
              </a:rPr>
              <a:t>people</a:t>
            </a:r>
            <a:r>
              <a:rPr lang="nl-BE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nl-BE" dirty="0" err="1">
                <a:latin typeface="Arial" panose="020B0604020202020204" pitchFamily="34" charset="0"/>
                <a:cs typeface="Arial" panose="020B0604020202020204" pitchFamily="34" charset="0"/>
              </a:rPr>
              <a:t>median</a:t>
            </a:r>
            <a:r>
              <a:rPr lang="nl-B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dirty="0" err="1">
                <a:latin typeface="Arial" panose="020B0604020202020204" pitchFamily="34" charset="0"/>
                <a:cs typeface="Arial" panose="020B0604020202020204" pitchFamily="34" charset="0"/>
              </a:rPr>
              <a:t>age</a:t>
            </a:r>
            <a:r>
              <a:rPr lang="nl-BE" dirty="0">
                <a:latin typeface="Arial" panose="020B0604020202020204" pitchFamily="34" charset="0"/>
                <a:cs typeface="Arial" panose="020B0604020202020204" pitchFamily="34" charset="0"/>
              </a:rPr>
              <a:t> 30 </a:t>
            </a:r>
            <a:r>
              <a:rPr lang="nl-BE" dirty="0" err="1">
                <a:latin typeface="Arial" panose="020B0604020202020204" pitchFamily="34" charset="0"/>
                <a:cs typeface="Arial" panose="020B0604020202020204" pitchFamily="34" charset="0"/>
              </a:rPr>
              <a:t>years</a:t>
            </a:r>
            <a:endParaRPr lang="nl-B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nl-BE" dirty="0" err="1">
                <a:latin typeface="Arial" panose="020B0604020202020204" pitchFamily="34" charset="0"/>
                <a:cs typeface="Arial" panose="020B0604020202020204" pitchFamily="34" charset="0"/>
              </a:rPr>
              <a:t>One</a:t>
            </a:r>
            <a:r>
              <a:rPr lang="nl-BE" dirty="0"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nl-BE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nl-B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dirty="0" err="1">
                <a:latin typeface="Arial" panose="020B0604020202020204" pitchFamily="34" charset="0"/>
                <a:cs typeface="Arial" panose="020B0604020202020204" pitchFamily="34" charset="0"/>
              </a:rPr>
              <a:t>fastest</a:t>
            </a:r>
            <a:r>
              <a:rPr lang="nl-B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dirty="0" err="1">
                <a:latin typeface="Arial" panose="020B0604020202020204" pitchFamily="34" charset="0"/>
                <a:cs typeface="Arial" panose="020B0604020202020204" pitchFamily="34" charset="0"/>
              </a:rPr>
              <a:t>growing</a:t>
            </a:r>
            <a:r>
              <a:rPr lang="nl-BE" dirty="0">
                <a:latin typeface="Arial" panose="020B0604020202020204" pitchFamily="34" charset="0"/>
                <a:cs typeface="Arial" panose="020B0604020202020204" pitchFamily="34" charset="0"/>
              </a:rPr>
              <a:t> digital </a:t>
            </a:r>
            <a:r>
              <a:rPr lang="nl-BE" dirty="0" err="1">
                <a:latin typeface="Arial" panose="020B0604020202020204" pitchFamily="34" charset="0"/>
                <a:cs typeface="Arial" panose="020B0604020202020204" pitchFamily="34" charset="0"/>
              </a:rPr>
              <a:t>economies</a:t>
            </a:r>
            <a:r>
              <a:rPr lang="nl-BE" dirty="0"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nl-BE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nl-B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dirty="0" err="1">
                <a:latin typeface="Arial" panose="020B0604020202020204" pitchFamily="34" charset="0"/>
                <a:cs typeface="Arial" panose="020B0604020202020204" pitchFamily="34" charset="0"/>
              </a:rPr>
              <a:t>world</a:t>
            </a:r>
            <a:r>
              <a:rPr lang="nl-B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dirty="0" err="1">
                <a:latin typeface="Arial" panose="020B0604020202020204" pitchFamily="34" charset="0"/>
                <a:cs typeface="Arial" panose="020B0604020202020204" pitchFamily="34" charset="0"/>
              </a:rPr>
              <a:t>expected</a:t>
            </a:r>
            <a:r>
              <a:rPr lang="nl-B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dirty="0" err="1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nl-B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dirty="0" err="1">
                <a:latin typeface="Arial" panose="020B0604020202020204" pitchFamily="34" charset="0"/>
                <a:cs typeface="Arial" panose="020B0604020202020204" pitchFamily="34" charset="0"/>
              </a:rPr>
              <a:t>surpass</a:t>
            </a:r>
            <a:r>
              <a:rPr lang="nl-BE" dirty="0">
                <a:latin typeface="Arial" panose="020B0604020202020204" pitchFamily="34" charset="0"/>
                <a:cs typeface="Arial" panose="020B0604020202020204" pitchFamily="34" charset="0"/>
              </a:rPr>
              <a:t> $330 </a:t>
            </a:r>
            <a:r>
              <a:rPr lang="nl-BE" dirty="0" err="1">
                <a:latin typeface="Arial" panose="020B0604020202020204" pitchFamily="34" charset="0"/>
                <a:cs typeface="Arial" panose="020B0604020202020204" pitchFamily="34" charset="0"/>
              </a:rPr>
              <a:t>billion</a:t>
            </a:r>
            <a:r>
              <a:rPr lang="nl-B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dirty="0" err="1">
                <a:latin typeface="Arial" panose="020B0604020202020204" pitchFamily="34" charset="0"/>
                <a:cs typeface="Arial" panose="020B0604020202020204" pitchFamily="34" charset="0"/>
              </a:rPr>
              <a:t>by</a:t>
            </a:r>
            <a:r>
              <a:rPr lang="nl-BE" dirty="0">
                <a:latin typeface="Arial" panose="020B0604020202020204" pitchFamily="34" charset="0"/>
                <a:cs typeface="Arial" panose="020B0604020202020204" pitchFamily="34" charset="0"/>
              </a:rPr>
              <a:t> 2025 </a:t>
            </a:r>
            <a:r>
              <a:rPr lang="nl-BE" dirty="0" err="1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nl-B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dirty="0" err="1">
                <a:latin typeface="Arial" panose="020B0604020202020204" pitchFamily="34" charset="0"/>
                <a:cs typeface="Arial" panose="020B0604020202020204" pitchFamily="34" charset="0"/>
              </a:rPr>
              <a:t>could</a:t>
            </a:r>
            <a:r>
              <a:rPr lang="nl-B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dirty="0" err="1">
                <a:latin typeface="Arial" panose="020B0604020202020204" pitchFamily="34" charset="0"/>
                <a:cs typeface="Arial" panose="020B0604020202020204" pitchFamily="34" charset="0"/>
              </a:rPr>
              <a:t>reach</a:t>
            </a:r>
            <a:r>
              <a:rPr lang="nl-BE" dirty="0">
                <a:latin typeface="Arial" panose="020B0604020202020204" pitchFamily="34" charset="0"/>
                <a:cs typeface="Arial" panose="020B0604020202020204" pitchFamily="34" charset="0"/>
              </a:rPr>
              <a:t> $1 </a:t>
            </a:r>
            <a:r>
              <a:rPr lang="nl-BE" dirty="0" err="1">
                <a:latin typeface="Arial" panose="020B0604020202020204" pitchFamily="34" charset="0"/>
                <a:cs typeface="Arial" panose="020B0604020202020204" pitchFamily="34" charset="0"/>
              </a:rPr>
              <a:t>trillion</a:t>
            </a:r>
            <a:r>
              <a:rPr lang="nl-B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dirty="0" err="1">
                <a:latin typeface="Arial" panose="020B0604020202020204" pitchFamily="34" charset="0"/>
                <a:cs typeface="Arial" panose="020B0604020202020204" pitchFamily="34" charset="0"/>
              </a:rPr>
              <a:t>by</a:t>
            </a:r>
            <a:r>
              <a:rPr lang="nl-BE" dirty="0">
                <a:latin typeface="Arial" panose="020B0604020202020204" pitchFamily="34" charset="0"/>
                <a:cs typeface="Arial" panose="020B0604020202020204" pitchFamily="34" charset="0"/>
              </a:rPr>
              <a:t> 2030 </a:t>
            </a:r>
            <a:r>
              <a:rPr lang="nl-BE" dirty="0" err="1">
                <a:latin typeface="Arial" panose="020B0604020202020204" pitchFamily="34" charset="0"/>
                <a:cs typeface="Arial" panose="020B0604020202020204" pitchFamily="34" charset="0"/>
              </a:rPr>
              <a:t>according</a:t>
            </a:r>
            <a:r>
              <a:rPr lang="nl-B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dirty="0" err="1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nl-BE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nl-BE" dirty="0" err="1">
                <a:latin typeface="Arial" panose="020B0604020202020204" pitchFamily="34" charset="0"/>
                <a:cs typeface="Arial" panose="020B0604020202020204" pitchFamily="34" charset="0"/>
              </a:rPr>
              <a:t>study</a:t>
            </a:r>
            <a:r>
              <a:rPr lang="nl-BE" dirty="0">
                <a:latin typeface="Arial" panose="020B0604020202020204" pitchFamily="34" charset="0"/>
                <a:cs typeface="Arial" panose="020B0604020202020204" pitchFamily="34" charset="0"/>
              </a:rPr>
              <a:t> (WEF)</a:t>
            </a:r>
          </a:p>
          <a:p>
            <a:r>
              <a:rPr lang="nl-BE" dirty="0">
                <a:latin typeface="Arial" panose="020B0604020202020204" pitchFamily="34" charset="0"/>
                <a:cs typeface="Arial" panose="020B0604020202020204" pitchFamily="34" charset="0"/>
              </a:rPr>
              <a:t>E-commerce, </a:t>
            </a:r>
            <a:r>
              <a:rPr lang="nl-BE" dirty="0" err="1">
                <a:latin typeface="Arial" panose="020B0604020202020204" pitchFamily="34" charset="0"/>
                <a:cs typeface="Arial" panose="020B0604020202020204" pitchFamily="34" charset="0"/>
              </a:rPr>
              <a:t>ride-hailing</a:t>
            </a:r>
            <a:r>
              <a:rPr lang="nl-BE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nl-BE" dirty="0" err="1">
                <a:latin typeface="Arial" panose="020B0604020202020204" pitchFamily="34" charset="0"/>
                <a:cs typeface="Arial" panose="020B0604020202020204" pitchFamily="34" charset="0"/>
              </a:rPr>
              <a:t>fintech</a:t>
            </a:r>
            <a:r>
              <a:rPr lang="nl-BE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nl-BE" dirty="0" err="1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nl-BE" dirty="0">
                <a:latin typeface="Arial" panose="020B0604020202020204" pitchFamily="34" charset="0"/>
                <a:cs typeface="Arial" panose="020B0604020202020204" pitchFamily="34" charset="0"/>
              </a:rPr>
              <a:t> online </a:t>
            </a:r>
            <a:r>
              <a:rPr lang="nl-BE" dirty="0" err="1">
                <a:latin typeface="Arial" panose="020B0604020202020204" pitchFamily="34" charset="0"/>
                <a:cs typeface="Arial" panose="020B0604020202020204" pitchFamily="34" charset="0"/>
              </a:rPr>
              <a:t>payments</a:t>
            </a:r>
            <a:r>
              <a:rPr lang="nl-B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dirty="0" err="1">
                <a:latin typeface="Arial" panose="020B0604020202020204" pitchFamily="34" charset="0"/>
                <a:cs typeface="Arial" panose="020B0604020202020204" pitchFamily="34" charset="0"/>
              </a:rPr>
              <a:t>booming</a:t>
            </a:r>
            <a:r>
              <a:rPr lang="nl-B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dirty="0" err="1">
                <a:latin typeface="Arial" panose="020B0604020202020204" pitchFamily="34" charset="0"/>
                <a:cs typeface="Arial" panose="020B0604020202020204" pitchFamily="34" charset="0"/>
              </a:rPr>
              <a:t>due</a:t>
            </a:r>
            <a:r>
              <a:rPr lang="nl-B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dirty="0" err="1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nl-B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dirty="0" err="1">
                <a:latin typeface="Arial" panose="020B0604020202020204" pitchFamily="34" charset="0"/>
                <a:cs typeface="Arial" panose="020B0604020202020204" pitchFamily="34" charset="0"/>
              </a:rPr>
              <a:t>increasing</a:t>
            </a:r>
            <a:r>
              <a:rPr lang="nl-BE" dirty="0">
                <a:latin typeface="Arial" panose="020B0604020202020204" pitchFamily="34" charset="0"/>
                <a:cs typeface="Arial" panose="020B0604020202020204" pitchFamily="34" charset="0"/>
              </a:rPr>
              <a:t> internet </a:t>
            </a:r>
            <a:r>
              <a:rPr lang="nl-BE" dirty="0" err="1">
                <a:latin typeface="Arial" panose="020B0604020202020204" pitchFamily="34" charset="0"/>
                <a:cs typeface="Arial" panose="020B0604020202020204" pitchFamily="34" charset="0"/>
              </a:rPr>
              <a:t>penetration</a:t>
            </a:r>
            <a:r>
              <a:rPr lang="nl-B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dirty="0" err="1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nl-BE" dirty="0">
                <a:latin typeface="Arial" panose="020B0604020202020204" pitchFamily="34" charset="0"/>
                <a:cs typeface="Arial" panose="020B0604020202020204" pitchFamily="34" charset="0"/>
              </a:rPr>
              <a:t> smartphone adoption</a:t>
            </a:r>
          </a:p>
          <a:p>
            <a:r>
              <a:rPr lang="nl-BE" dirty="0" err="1">
                <a:latin typeface="Arial" panose="020B0604020202020204" pitchFamily="34" charset="0"/>
                <a:cs typeface="Arial" panose="020B0604020202020204" pitchFamily="34" charset="0"/>
              </a:rPr>
              <a:t>Attracts</a:t>
            </a:r>
            <a:r>
              <a:rPr lang="nl-B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dirty="0" err="1">
                <a:latin typeface="Arial" panose="020B0604020202020204" pitchFamily="34" charset="0"/>
                <a:cs typeface="Arial" panose="020B0604020202020204" pitchFamily="34" charset="0"/>
              </a:rPr>
              <a:t>foreign</a:t>
            </a:r>
            <a:r>
              <a:rPr lang="nl-BE" dirty="0">
                <a:latin typeface="Arial" panose="020B0604020202020204" pitchFamily="34" charset="0"/>
                <a:cs typeface="Arial" panose="020B0604020202020204" pitchFamily="34" charset="0"/>
              </a:rPr>
              <a:t> investment </a:t>
            </a:r>
            <a:r>
              <a:rPr lang="nl-BE" dirty="0" err="1">
                <a:latin typeface="Arial" panose="020B0604020202020204" pitchFamily="34" charset="0"/>
                <a:cs typeface="Arial" panose="020B0604020202020204" pitchFamily="34" charset="0"/>
              </a:rPr>
              <a:t>due</a:t>
            </a:r>
            <a:r>
              <a:rPr lang="nl-B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dirty="0" err="1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nl-B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dirty="0" err="1">
                <a:latin typeface="Arial" panose="020B0604020202020204" pitchFamily="34" charset="0"/>
                <a:cs typeface="Arial" panose="020B0604020202020204" pitchFamily="34" charset="0"/>
              </a:rPr>
              <a:t>strategic</a:t>
            </a:r>
            <a:r>
              <a:rPr lang="nl-B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dirty="0" err="1">
                <a:latin typeface="Arial" panose="020B0604020202020204" pitchFamily="34" charset="0"/>
                <a:cs typeface="Arial" panose="020B0604020202020204" pitchFamily="34" charset="0"/>
              </a:rPr>
              <a:t>location</a:t>
            </a:r>
            <a:r>
              <a:rPr lang="nl-B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dirty="0" err="1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nl-B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dirty="0" err="1">
                <a:latin typeface="Arial" panose="020B0604020202020204" pitchFamily="34" charset="0"/>
                <a:cs typeface="Arial" panose="020B0604020202020204" pitchFamily="34" charset="0"/>
              </a:rPr>
              <a:t>competitive</a:t>
            </a:r>
            <a:r>
              <a:rPr lang="nl-B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dirty="0" err="1">
                <a:latin typeface="Arial" panose="020B0604020202020204" pitchFamily="34" charset="0"/>
                <a:cs typeface="Arial" panose="020B0604020202020204" pitchFamily="34" charset="0"/>
              </a:rPr>
              <a:t>labor</a:t>
            </a:r>
            <a:r>
              <a:rPr lang="nl-B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dirty="0" err="1">
                <a:latin typeface="Arial" panose="020B0604020202020204" pitchFamily="34" charset="0"/>
                <a:cs typeface="Arial" panose="020B0604020202020204" pitchFamily="34" charset="0"/>
              </a:rPr>
              <a:t>costs</a:t>
            </a:r>
            <a:endParaRPr lang="nl-B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nl-BE" dirty="0" err="1">
                <a:latin typeface="Arial" panose="020B0604020202020204" pitchFamily="34" charset="0"/>
                <a:cs typeface="Arial" panose="020B0604020202020204" pitchFamily="34" charset="0"/>
              </a:rPr>
              <a:t>Rising</a:t>
            </a:r>
            <a:r>
              <a:rPr lang="nl-B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dirty="0" err="1">
                <a:latin typeface="Arial" panose="020B0604020202020204" pitchFamily="34" charset="0"/>
                <a:cs typeface="Arial" panose="020B0604020202020204" pitchFamily="34" charset="0"/>
              </a:rPr>
              <a:t>middle</a:t>
            </a:r>
            <a:r>
              <a:rPr lang="nl-BE" dirty="0">
                <a:latin typeface="Arial" panose="020B0604020202020204" pitchFamily="34" charset="0"/>
                <a:cs typeface="Arial" panose="020B0604020202020204" pitchFamily="34" charset="0"/>
              </a:rPr>
              <a:t> class </a:t>
            </a:r>
            <a:r>
              <a:rPr lang="nl-BE" dirty="0" err="1">
                <a:latin typeface="Arial" panose="020B0604020202020204" pitchFamily="34" charset="0"/>
                <a:cs typeface="Arial" panose="020B0604020202020204" pitchFamily="34" charset="0"/>
              </a:rPr>
              <a:t>due</a:t>
            </a:r>
            <a:r>
              <a:rPr lang="nl-B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dirty="0" err="1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nl-B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dirty="0" err="1">
                <a:latin typeface="Arial" panose="020B0604020202020204" pitchFamily="34" charset="0"/>
                <a:cs typeface="Arial" panose="020B0604020202020204" pitchFamily="34" charset="0"/>
              </a:rPr>
              <a:t>rapid</a:t>
            </a:r>
            <a:r>
              <a:rPr lang="nl-B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dirty="0" err="1">
                <a:latin typeface="Arial" panose="020B0604020202020204" pitchFamily="34" charset="0"/>
                <a:cs typeface="Arial" panose="020B0604020202020204" pitchFamily="34" charset="0"/>
              </a:rPr>
              <a:t>economic</a:t>
            </a:r>
            <a:r>
              <a:rPr lang="nl-B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dirty="0" err="1">
                <a:latin typeface="Arial" panose="020B0604020202020204" pitchFamily="34" charset="0"/>
                <a:cs typeface="Arial" panose="020B0604020202020204" pitchFamily="34" charset="0"/>
              </a:rPr>
              <a:t>growth</a:t>
            </a:r>
            <a:r>
              <a:rPr lang="nl-B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dirty="0" err="1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nl-B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dirty="0" err="1">
                <a:latin typeface="Arial" panose="020B0604020202020204" pitchFamily="34" charset="0"/>
                <a:cs typeface="Arial" panose="020B0604020202020204" pitchFamily="34" charset="0"/>
              </a:rPr>
              <a:t>urbanization</a:t>
            </a:r>
            <a:endParaRPr lang="nl-B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nl-BE" dirty="0">
                <a:latin typeface="Arial" panose="020B0604020202020204" pitchFamily="34" charset="0"/>
                <a:cs typeface="Arial" panose="020B0604020202020204" pitchFamily="34" charset="0"/>
              </a:rPr>
              <a:t>Strong </a:t>
            </a:r>
            <a:r>
              <a:rPr lang="nl-BE" dirty="0" err="1">
                <a:latin typeface="Arial" panose="020B0604020202020204" pitchFamily="34" charset="0"/>
                <a:cs typeface="Arial" panose="020B0604020202020204" pitchFamily="34" charset="0"/>
              </a:rPr>
              <a:t>tourism</a:t>
            </a:r>
            <a:r>
              <a:rPr lang="nl-B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dirty="0" err="1">
                <a:latin typeface="Arial" panose="020B0604020202020204" pitchFamily="34" charset="0"/>
                <a:cs typeface="Arial" panose="020B0604020202020204" pitchFamily="34" charset="0"/>
              </a:rPr>
              <a:t>demand</a:t>
            </a:r>
            <a:r>
              <a:rPr lang="nl-B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dirty="0" err="1">
                <a:latin typeface="Arial" panose="020B0604020202020204" pitchFamily="34" charset="0"/>
                <a:cs typeface="Arial" panose="020B0604020202020204" pitchFamily="34" charset="0"/>
              </a:rPr>
              <a:t>currently</a:t>
            </a:r>
            <a:r>
              <a:rPr lang="nl-BE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nl-BE" dirty="0" err="1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nl-B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dirty="0" err="1">
                <a:latin typeface="Arial" panose="020B0604020202020204" pitchFamily="34" charset="0"/>
                <a:cs typeface="Arial" panose="020B0604020202020204" pitchFamily="34" charset="0"/>
              </a:rPr>
              <a:t>expected</a:t>
            </a:r>
            <a:r>
              <a:rPr lang="nl-B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dirty="0" err="1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nl-B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dirty="0" err="1">
                <a:latin typeface="Arial" panose="020B0604020202020204" pitchFamily="34" charset="0"/>
                <a:cs typeface="Arial" panose="020B0604020202020204" pitchFamily="34" charset="0"/>
              </a:rPr>
              <a:t>grow</a:t>
            </a:r>
            <a:r>
              <a:rPr lang="nl-BE" dirty="0"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nl-BE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nl-BE" dirty="0">
                <a:latin typeface="Arial" panose="020B0604020202020204" pitchFamily="34" charset="0"/>
                <a:cs typeface="Arial" panose="020B0604020202020204" pitchFamily="34" charset="0"/>
              </a:rPr>
              <a:t> next decade</a:t>
            </a:r>
            <a:endParaRPr lang="en-B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2703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EB5B1-F32B-09DE-D671-298B74860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latin typeface="Arial" panose="020B0604020202020204" pitchFamily="34" charset="0"/>
                <a:cs typeface="Arial" panose="020B0604020202020204" pitchFamily="34" charset="0"/>
              </a:rPr>
              <a:t>GDP </a:t>
            </a:r>
            <a:r>
              <a:rPr lang="nl-BE" dirty="0" err="1">
                <a:latin typeface="Arial" panose="020B0604020202020204" pitchFamily="34" charset="0"/>
                <a:cs typeface="Arial" panose="020B0604020202020204" pitchFamily="34" charset="0"/>
              </a:rPr>
              <a:t>Southeast</a:t>
            </a:r>
            <a:r>
              <a:rPr lang="nl-B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dirty="0" err="1">
                <a:latin typeface="Arial" panose="020B0604020202020204" pitchFamily="34" charset="0"/>
                <a:cs typeface="Arial" panose="020B0604020202020204" pitchFamily="34" charset="0"/>
              </a:rPr>
              <a:t>Asia</a:t>
            </a:r>
            <a:endParaRPr lang="en-B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0" name="Picture 2" descr="Output image">
            <a:extLst>
              <a:ext uri="{FF2B5EF4-FFF2-40B4-BE49-F238E27FC236}">
                <a16:creationId xmlns:a16="http://schemas.microsoft.com/office/drawing/2014/main" id="{475A907E-5BC8-4ADF-4F16-6D3772BC0A7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334" y="1433946"/>
            <a:ext cx="8421493" cy="5021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91481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4D16F1A-5D78-4402-81FF-31A98AFD6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B40C33-C0F7-A749-064B-865863480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nl-BE" sz="4000" dirty="0" err="1"/>
              <a:t>Key</a:t>
            </a:r>
            <a:r>
              <a:rPr lang="nl-BE" sz="4000" dirty="0"/>
              <a:t> </a:t>
            </a:r>
            <a:r>
              <a:rPr lang="nl-BE" sz="4000" dirty="0" err="1"/>
              <a:t>numbers</a:t>
            </a:r>
            <a:endParaRPr lang="en-BE" sz="4000" dirty="0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1B2FB7F0-6A45-43E8-88A7-48E46E6D48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BE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6BA9C607-662B-4FBB-A3F3-CF593AD736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BE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0583B37-7488-BFDA-445C-9CD8E6C756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9438493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63434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F054EF5-EFE6-45A2-834C-0F0931F39F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FE3C88A-FEDB-4B9C-94EE-5026B326B3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5D51D9B-0E7C-44D3-9215-81F991523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16EFB339-1D4E-4824-A20B-AF30D07CF7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BE"/>
            </a:p>
          </p:txBody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00030831-8136-4C61-8F00-6F190C5AEB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BE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9B14B360-4798-467E-ADE9-756959EC5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BE"/>
            </a:p>
          </p:txBody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9433F2F7-DA21-430A-A31C-D529D9C6A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BE"/>
            </a:p>
          </p:txBody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0B24FFF9-F75D-4A88-90F8-D2D7BBB8E8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BE"/>
            </a:p>
          </p:txBody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A0A2A2C4-404D-431C-8F9A-227932A42E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BE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4661DBE2-1BC5-463F-BBB8-199B890D1C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BE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710A6E70-F0B9-4E3D-9A78-2D2FEE5DF3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BE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03E8462A-FEBA-4848-81CC-3F8DA3E47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109F83F-40FE-4DB3-84CC-09FB3340D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DE492D7-C3C3-48FF-80C8-37021EA02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3">
              <a:extLst>
                <a:ext uri="{FF2B5EF4-FFF2-40B4-BE49-F238E27FC236}">
                  <a16:creationId xmlns:a16="http://schemas.microsoft.com/office/drawing/2014/main" id="{0B30FF97-2E9A-490A-AED2-90BA2E0EC1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BE"/>
            </a:p>
          </p:txBody>
        </p:sp>
        <p:sp>
          <p:nvSpPr>
            <p:cNvPr id="27" name="Rectangle 25">
              <a:extLst>
                <a:ext uri="{FF2B5EF4-FFF2-40B4-BE49-F238E27FC236}">
                  <a16:creationId xmlns:a16="http://schemas.microsoft.com/office/drawing/2014/main" id="{B6D53C7D-A312-47B6-A66A-230A19CFA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BE"/>
            </a:p>
          </p:txBody>
        </p:sp>
        <p:sp>
          <p:nvSpPr>
            <p:cNvPr id="28" name="Isosceles Triangle 27">
              <a:extLst>
                <a:ext uri="{FF2B5EF4-FFF2-40B4-BE49-F238E27FC236}">
                  <a16:creationId xmlns:a16="http://schemas.microsoft.com/office/drawing/2014/main" id="{9329D58C-0D2E-4A2B-AD6A-9CEE506784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BE"/>
            </a:p>
          </p:txBody>
        </p:sp>
        <p:sp>
          <p:nvSpPr>
            <p:cNvPr id="29" name="Rectangle 27">
              <a:extLst>
                <a:ext uri="{FF2B5EF4-FFF2-40B4-BE49-F238E27FC236}">
                  <a16:creationId xmlns:a16="http://schemas.microsoft.com/office/drawing/2014/main" id="{9D446EDE-C690-4461-8BF2-7634808FC8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BE"/>
            </a:p>
          </p:txBody>
        </p:sp>
        <p:sp>
          <p:nvSpPr>
            <p:cNvPr id="30" name="Rectangle 28">
              <a:extLst>
                <a:ext uri="{FF2B5EF4-FFF2-40B4-BE49-F238E27FC236}">
                  <a16:creationId xmlns:a16="http://schemas.microsoft.com/office/drawing/2014/main" id="{323F3D34-6531-4AD7-A8C6-195A090281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BE"/>
            </a:p>
          </p:txBody>
        </p:sp>
        <p:sp>
          <p:nvSpPr>
            <p:cNvPr id="31" name="Rectangle 29">
              <a:extLst>
                <a:ext uri="{FF2B5EF4-FFF2-40B4-BE49-F238E27FC236}">
                  <a16:creationId xmlns:a16="http://schemas.microsoft.com/office/drawing/2014/main" id="{B9B0AE3F-2350-435F-A9B0-C310BF8763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BE"/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4EFA655C-9E50-4C14-A89E-AD7B648E4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BE"/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3E843863-7D25-4C01-9A17-E817CB6D99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BE"/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7941F9B1-B01B-4A84-89D9-B169AEB4E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graph of numbers and a number of numbers">
            <a:extLst>
              <a:ext uri="{FF2B5EF4-FFF2-40B4-BE49-F238E27FC236}">
                <a16:creationId xmlns:a16="http://schemas.microsoft.com/office/drawing/2014/main" id="{3D183990-1EBB-299F-8664-50957093E0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375" y="480060"/>
            <a:ext cx="11264882" cy="5897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404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4ABF6-44F2-E889-1C67-71ACAFA08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65256"/>
            <a:ext cx="8596668" cy="1320800"/>
          </a:xfrm>
        </p:spPr>
        <p:txBody>
          <a:bodyPr/>
          <a:lstStyle/>
          <a:p>
            <a:r>
              <a:rPr lang="nl-BE" dirty="0"/>
              <a:t>Free Cash Flow</a:t>
            </a:r>
            <a:endParaRPr lang="en-BE" dirty="0"/>
          </a:p>
        </p:txBody>
      </p:sp>
      <p:pic>
        <p:nvPicPr>
          <p:cNvPr id="5" name="Content Placeholder 4" descr="A graph with numbers and a line&#10;&#10;Description automatically generated">
            <a:extLst>
              <a:ext uri="{FF2B5EF4-FFF2-40B4-BE49-F238E27FC236}">
                <a16:creationId xmlns:a16="http://schemas.microsoft.com/office/drawing/2014/main" id="{5CFAA00B-01F4-989A-14B3-7EA7AE055E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52" y="963426"/>
            <a:ext cx="8764847" cy="5629318"/>
          </a:xfrm>
        </p:spPr>
      </p:pic>
    </p:spTree>
    <p:extLst>
      <p:ext uri="{BB962C8B-B14F-4D97-AF65-F5344CB8AC3E}">
        <p14:creationId xmlns:p14="http://schemas.microsoft.com/office/powerpoint/2010/main" val="12222592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7C520-D2E2-8FE6-C50C-073D7364B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70164"/>
            <a:ext cx="8596668" cy="1320800"/>
          </a:xfrm>
        </p:spPr>
        <p:txBody>
          <a:bodyPr/>
          <a:lstStyle/>
          <a:p>
            <a:r>
              <a:rPr lang="nl-BE" dirty="0" err="1"/>
              <a:t>Profitability</a:t>
            </a:r>
            <a:endParaRPr lang="en-BE" dirty="0"/>
          </a:p>
        </p:txBody>
      </p:sp>
      <p:pic>
        <p:nvPicPr>
          <p:cNvPr id="5" name="Content Placeholder 4" descr="A graph with numbers and a line&#10;&#10;Description automatically generated">
            <a:extLst>
              <a:ext uri="{FF2B5EF4-FFF2-40B4-BE49-F238E27FC236}">
                <a16:creationId xmlns:a16="http://schemas.microsoft.com/office/drawing/2014/main" id="{F489AFDC-49DF-5AB2-81C9-7C2CB282A4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420" y="1035343"/>
            <a:ext cx="8905302" cy="5415103"/>
          </a:xfrm>
        </p:spPr>
      </p:pic>
    </p:spTree>
    <p:extLst>
      <p:ext uri="{BB962C8B-B14F-4D97-AF65-F5344CB8AC3E}">
        <p14:creationId xmlns:p14="http://schemas.microsoft.com/office/powerpoint/2010/main" val="2770532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1CE9D-2178-5EE1-6411-6FC753D87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Strong Cash Reserves</a:t>
            </a:r>
            <a:endParaRPr lang="en-B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1B8803D-CF5B-EAAF-C38B-2A582EED9F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1432502"/>
            <a:ext cx="9279666" cy="4815898"/>
          </a:xfrm>
        </p:spPr>
      </p:pic>
    </p:spTree>
    <p:extLst>
      <p:ext uri="{BB962C8B-B14F-4D97-AF65-F5344CB8AC3E}">
        <p14:creationId xmlns:p14="http://schemas.microsoft.com/office/powerpoint/2010/main" val="30433207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73E4D-3CFA-2851-1E02-DCDFEC18A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507" y="234084"/>
            <a:ext cx="8596668" cy="1320800"/>
          </a:xfrm>
        </p:spPr>
        <p:txBody>
          <a:bodyPr/>
          <a:lstStyle/>
          <a:p>
            <a:r>
              <a:rPr lang="nl-BE" dirty="0" err="1"/>
              <a:t>Valuation</a:t>
            </a:r>
            <a:endParaRPr lang="en-B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2477F5D-D007-F305-08A6-0A13259A13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75837" y="949401"/>
            <a:ext cx="6729172" cy="5674516"/>
          </a:xfrm>
        </p:spPr>
      </p:pic>
    </p:spTree>
    <p:extLst>
      <p:ext uri="{BB962C8B-B14F-4D97-AF65-F5344CB8AC3E}">
        <p14:creationId xmlns:p14="http://schemas.microsoft.com/office/powerpoint/2010/main" val="6655456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F713E-7A52-5B7D-A86C-9308BFA8E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CEO </a:t>
            </a:r>
            <a:r>
              <a:rPr lang="nl-BE" dirty="0" err="1"/>
              <a:t>and</a:t>
            </a:r>
            <a:r>
              <a:rPr lang="nl-BE" dirty="0"/>
              <a:t> Co-</a:t>
            </a:r>
            <a:r>
              <a:rPr lang="nl-BE" dirty="0" err="1"/>
              <a:t>Founder</a:t>
            </a:r>
            <a:r>
              <a:rPr lang="nl-BE" dirty="0"/>
              <a:t> Anthony Tan</a:t>
            </a:r>
            <a:endParaRPr lang="en-BE" dirty="0"/>
          </a:p>
        </p:txBody>
      </p:sp>
      <p:pic>
        <p:nvPicPr>
          <p:cNvPr id="1026" name="Picture 2" descr="The rise of Grab: How I built a super app that brings in over $2 billion a  year">
            <a:extLst>
              <a:ext uri="{FF2B5EF4-FFF2-40B4-BE49-F238E27FC236}">
                <a16:creationId xmlns:a16="http://schemas.microsoft.com/office/drawing/2014/main" id="{EB03D527-FAF8-6C8B-C64B-D7AC7FBABF0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798" y="1599710"/>
            <a:ext cx="7500798" cy="4219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06132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4D16F1A-5D78-4402-81FF-31A98AFD6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999E5A-57C3-6DF8-F5D6-1D99782A1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nl-BE" sz="4400" dirty="0" err="1"/>
              <a:t>Competition</a:t>
            </a:r>
            <a:endParaRPr lang="en-BE" dirty="0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1B2FB7F0-6A45-43E8-88A7-48E46E6D48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BE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6BA9C607-662B-4FBB-A3F3-CF593AD736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BE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7A2725F1-8292-5C8C-E71E-E3467F5FB6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3856256"/>
              </p:ext>
            </p:extLst>
          </p:nvPr>
        </p:nvGraphicFramePr>
        <p:xfrm>
          <a:off x="1286933" y="1709057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702893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4D16F1A-5D78-4402-81FF-31A98AFD6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77FA70-1B0B-CADE-9A64-3A9CB5960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2" y="473336"/>
            <a:ext cx="10352841" cy="1235721"/>
          </a:xfrm>
        </p:spPr>
        <p:txBody>
          <a:bodyPr>
            <a:normAutofit/>
          </a:bodyPr>
          <a:lstStyle/>
          <a:p>
            <a:r>
              <a:rPr lang="nl-BE" sz="4400" dirty="0" err="1"/>
              <a:t>Conclusion</a:t>
            </a:r>
            <a:endParaRPr lang="en-BE" sz="4400" dirty="0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1B2FB7F0-6A45-43E8-88A7-48E46E6D48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BE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6BA9C607-662B-4FBB-A3F3-CF593AD736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BE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8A4124C-AE66-3FBE-BD59-5F0D2D8409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3014320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679286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3F993C45-B237-4CD5-A232-CD2DFFF5A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E9EA4F6-F0E3-4DB3-8F82-B91A1F693A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43A7345F-1794-4777-80F8-B67B01BE7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23">
              <a:extLst>
                <a:ext uri="{FF2B5EF4-FFF2-40B4-BE49-F238E27FC236}">
                  <a16:creationId xmlns:a16="http://schemas.microsoft.com/office/drawing/2014/main" id="{AEB4062E-9879-4D6E-8C9A-55D81D61C4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BE"/>
            </a:p>
          </p:txBody>
        </p:sp>
        <p:sp>
          <p:nvSpPr>
            <p:cNvPr id="42" name="Rectangle 25">
              <a:extLst>
                <a:ext uri="{FF2B5EF4-FFF2-40B4-BE49-F238E27FC236}">
                  <a16:creationId xmlns:a16="http://schemas.microsoft.com/office/drawing/2014/main" id="{E0E1E50E-9B56-49FC-AC93-34C80F4385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BE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786CF095-2697-4E6D-832B-E71B7C8D6D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BE"/>
            </a:p>
          </p:txBody>
        </p:sp>
        <p:sp>
          <p:nvSpPr>
            <p:cNvPr id="14" name="Rectangle 27">
              <a:extLst>
                <a:ext uri="{FF2B5EF4-FFF2-40B4-BE49-F238E27FC236}">
                  <a16:creationId xmlns:a16="http://schemas.microsoft.com/office/drawing/2014/main" id="{A93A2EA0-D245-490B-A61D-8B32A8DF49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BE"/>
            </a:p>
          </p:txBody>
        </p:sp>
        <p:sp>
          <p:nvSpPr>
            <p:cNvPr id="15" name="Rectangle 28">
              <a:extLst>
                <a:ext uri="{FF2B5EF4-FFF2-40B4-BE49-F238E27FC236}">
                  <a16:creationId xmlns:a16="http://schemas.microsoft.com/office/drawing/2014/main" id="{6BAC7BF2-009C-48C7-A7F2-2139B5079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BE"/>
            </a:p>
          </p:txBody>
        </p:sp>
        <p:sp>
          <p:nvSpPr>
            <p:cNvPr id="16" name="Rectangle 29">
              <a:extLst>
                <a:ext uri="{FF2B5EF4-FFF2-40B4-BE49-F238E27FC236}">
                  <a16:creationId xmlns:a16="http://schemas.microsoft.com/office/drawing/2014/main" id="{7D60F62B-3828-4F12-B884-8A89253251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BE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D8A41293-53F5-4380-B216-EB66A4353B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BE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A6DDE673-E05B-400B-B6E1-335E425D8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BE"/>
            </a:p>
          </p:txBody>
        </p:sp>
      </p:grp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ADFFC45-3DC9-4433-926F-043E879D9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5F26A87-0610-435F-AA13-BD658385C9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67230" y="-8468"/>
            <a:ext cx="4763558" cy="6866467"/>
            <a:chOff x="67175" y="-8467"/>
            <a:chExt cx="4763558" cy="6866467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6321436-5AAD-4FB6-BB0D-316D4540E8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520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4B0BD33-3D46-4F43-947A-825DFEF610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67175" y="3681413"/>
              <a:ext cx="4763558" cy="3176587"/>
            </a:xfrm>
            <a:prstGeom prst="line">
              <a:avLst/>
            </a:prstGeom>
            <a:ln w="9525">
              <a:solidFill>
                <a:schemeClr val="tx1">
                  <a:lumMod val="50000"/>
                  <a:lumOff val="50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Rectangle 23">
              <a:extLst>
                <a:ext uri="{FF2B5EF4-FFF2-40B4-BE49-F238E27FC236}">
                  <a16:creationId xmlns:a16="http://schemas.microsoft.com/office/drawing/2014/main" id="{92E26C27-E1F5-47DC-9F83-469D196C55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58764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BE"/>
            </a:p>
          </p:txBody>
        </p:sp>
        <p:sp>
          <p:nvSpPr>
            <p:cNvPr id="46" name="Rectangle 25">
              <a:extLst>
                <a:ext uri="{FF2B5EF4-FFF2-40B4-BE49-F238E27FC236}">
                  <a16:creationId xmlns:a16="http://schemas.microsoft.com/office/drawing/2014/main" id="{95F944E7-2B4E-4AE2-B4DB-846FF8AE0B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80730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BE"/>
            </a:p>
          </p:txBody>
        </p:sp>
        <p:sp>
          <p:nvSpPr>
            <p:cNvPr id="47" name="Isosceles Triangle 46">
              <a:extLst>
                <a:ext uri="{FF2B5EF4-FFF2-40B4-BE49-F238E27FC236}">
                  <a16:creationId xmlns:a16="http://schemas.microsoft.com/office/drawing/2014/main" id="{FF14952D-390F-46CC-B302-73DDD9C41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9621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BE"/>
            </a:p>
          </p:txBody>
        </p:sp>
        <p:sp>
          <p:nvSpPr>
            <p:cNvPr id="48" name="Rectangle 27">
              <a:extLst>
                <a:ext uri="{FF2B5EF4-FFF2-40B4-BE49-F238E27FC236}">
                  <a16:creationId xmlns:a16="http://schemas.microsoft.com/office/drawing/2014/main" id="{867CDE55-B22A-40D0-882A-9452919EE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411788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BE"/>
            </a:p>
          </p:txBody>
        </p:sp>
        <p:sp>
          <p:nvSpPr>
            <p:cNvPr id="49" name="Isosceles Triangle 48">
              <a:extLst>
                <a:ext uri="{FF2B5EF4-FFF2-40B4-BE49-F238E27FC236}">
                  <a16:creationId xmlns:a16="http://schemas.microsoft.com/office/drawing/2014/main" id="{8C409231-C942-4808-B529-DAC32A7DB0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448954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BE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3CFF121-1882-10D3-2435-73DF0AA47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1282701"/>
            <a:ext cx="5096060" cy="43071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5400"/>
              <a:t>Thank you for your attention</a:t>
            </a:r>
          </a:p>
        </p:txBody>
      </p:sp>
      <p:sp>
        <p:nvSpPr>
          <p:cNvPr id="50" name="Freeform: Shape 30">
            <a:extLst>
              <a:ext uri="{FF2B5EF4-FFF2-40B4-BE49-F238E27FC236}">
                <a16:creationId xmlns:a16="http://schemas.microsoft.com/office/drawing/2014/main" id="{69370F01-B8C9-4CE4-824C-92B2792E6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36497" y="-8468"/>
            <a:ext cx="5074930" cy="6866468"/>
          </a:xfrm>
          <a:custGeom>
            <a:avLst/>
            <a:gdLst>
              <a:gd name="connsiteX0" fmla="*/ 0 w 5074930"/>
              <a:gd name="connsiteY0" fmla="*/ 0 h 6858000"/>
              <a:gd name="connsiteX1" fmla="*/ 1249825 w 5074930"/>
              <a:gd name="connsiteY1" fmla="*/ 0 h 6858000"/>
              <a:gd name="connsiteX2" fmla="*/ 1249825 w 5074930"/>
              <a:gd name="connsiteY2" fmla="*/ 8457 h 6858000"/>
              <a:gd name="connsiteX3" fmla="*/ 5074930 w 5074930"/>
              <a:gd name="connsiteY3" fmla="*/ 8457 h 6858000"/>
              <a:gd name="connsiteX4" fmla="*/ 5074930 w 5074930"/>
              <a:gd name="connsiteY4" fmla="*/ 6858000 h 6858000"/>
              <a:gd name="connsiteX5" fmla="*/ 1249825 w 5074930"/>
              <a:gd name="connsiteY5" fmla="*/ 6858000 h 6858000"/>
              <a:gd name="connsiteX6" fmla="*/ 1109383 w 507493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74930" h="6858000">
                <a:moveTo>
                  <a:pt x="0" y="0"/>
                </a:moveTo>
                <a:lnTo>
                  <a:pt x="1249825" y="0"/>
                </a:lnTo>
                <a:lnTo>
                  <a:pt x="1249825" y="8457"/>
                </a:lnTo>
                <a:lnTo>
                  <a:pt x="5074930" y="8457"/>
                </a:lnTo>
                <a:lnTo>
                  <a:pt x="5074930" y="6858000"/>
                </a:lnTo>
                <a:lnTo>
                  <a:pt x="1249825" y="6858000"/>
                </a:lnTo>
                <a:lnTo>
                  <a:pt x="1109383" y="685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63724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D3E245530F0EB419FC69262727B5016" ma:contentTypeVersion="9" ma:contentTypeDescription="Create a new document." ma:contentTypeScope="" ma:versionID="3e1c7d99a32ce6757aa2767bc0e2e929">
  <xsd:schema xmlns:xsd="http://www.w3.org/2001/XMLSchema" xmlns:xs="http://www.w3.org/2001/XMLSchema" xmlns:p="http://schemas.microsoft.com/office/2006/metadata/properties" xmlns:ns3="b7f3b3d2-148e-4705-9d96-0c10e0f1652d" xmlns:ns4="3e5e224d-7c40-45a7-8913-45580fc77dee" targetNamespace="http://schemas.microsoft.com/office/2006/metadata/properties" ma:root="true" ma:fieldsID="21e6a9cbe5e885dc45c6652518c6fdb8" ns3:_="" ns4:_="">
    <xsd:import namespace="b7f3b3d2-148e-4705-9d96-0c10e0f1652d"/>
    <xsd:import namespace="3e5e224d-7c40-45a7-8913-45580fc77de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f3b3d2-148e-4705-9d96-0c10e0f1652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5e224d-7c40-45a7-8913-45580fc77dee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7f3b3d2-148e-4705-9d96-0c10e0f1652d" xsi:nil="true"/>
  </documentManagement>
</p:properties>
</file>

<file path=customXml/itemProps1.xml><?xml version="1.0" encoding="utf-8"?>
<ds:datastoreItem xmlns:ds="http://schemas.openxmlformats.org/officeDocument/2006/customXml" ds:itemID="{DADD3B2C-2529-40A1-A31F-2F1CFFE53BE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D4E3149-A030-424F-A81E-505247D6427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7f3b3d2-148e-4705-9d96-0c10e0f1652d"/>
    <ds:schemaRef ds:uri="3e5e224d-7c40-45a7-8913-45580fc77de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54315F3-906F-422E-9D5A-A6296B2E7077}">
  <ds:schemaRefs>
    <ds:schemaRef ds:uri="3e5e224d-7c40-45a7-8913-45580fc77dee"/>
    <ds:schemaRef ds:uri="http://purl.org/dc/elements/1.1/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b7f3b3d2-148e-4705-9d96-0c10e0f1652d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300</Words>
  <Application>Microsoft Office PowerPoint</Application>
  <PresentationFormat>Widescreen</PresentationFormat>
  <Paragraphs>36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Trebuchet MS</vt:lpstr>
      <vt:lpstr>Wingdings 3</vt:lpstr>
      <vt:lpstr>Facet</vt:lpstr>
      <vt:lpstr>Grab Holdings  Stock Presentation </vt:lpstr>
      <vt:lpstr>What do they do?  </vt:lpstr>
      <vt:lpstr>Operating in 8 countries in Southeast Asia</vt:lpstr>
      <vt:lpstr>Region analysis Anthony Tan, CEO and Co founder: “We remain bullish on the growth outlook of Southeast Asia, and are firing on all cylinders to to capter the strong consumer demand trends.”</vt:lpstr>
      <vt:lpstr>GDP Southeast Asia</vt:lpstr>
      <vt:lpstr>Key numbers</vt:lpstr>
      <vt:lpstr>PowerPoint Presentation</vt:lpstr>
      <vt:lpstr>Free Cash Flow</vt:lpstr>
      <vt:lpstr>Profitability</vt:lpstr>
      <vt:lpstr>Strong Cash Reserves</vt:lpstr>
      <vt:lpstr>Valuation</vt:lpstr>
      <vt:lpstr>CEO and Co-Founder Anthony Tan</vt:lpstr>
      <vt:lpstr>Competition</vt:lpstr>
      <vt:lpstr>Conclusion</vt:lpstr>
      <vt:lpstr>Thank you for your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Yoel Salamon</dc:creator>
  <cp:lastModifiedBy>Yoel Salamon</cp:lastModifiedBy>
  <cp:revision>2</cp:revision>
  <dcterms:created xsi:type="dcterms:W3CDTF">2025-01-18T22:39:14Z</dcterms:created>
  <dcterms:modified xsi:type="dcterms:W3CDTF">2025-01-19T21:20:39Z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0x0101002D3E245530F0EB419FC69262727B5016</vt:lpwstr>
  </property>
</Properties>
</file>